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3.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da5fb08-c2a0-26f9-06c6-4964be5ee0e3}">
          <p14:sldIdLst>
            <p14:sldId id="256"/>
          </p14:sldIdLst>
        </p14:section>
        <p14:section name="Method" id="{b3c9eb84-15d4-970a-87cd-da9035293f4a}">
          <p14:sldIdLst>
            <p14:sldId id="257"/>
          </p14:sldIdLst>
        </p14:section>
        <p14:section name="Findings" id="{5bcb9a8c-088d-276b-6ce9-49d740ecd209}">
          <p14:sldIdLst>
            <p14:sldId id="258"/>
            <p14:sldId id="259"/>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Variance (K)</c:v>
                </c:pt>
              </c:strCache>
            </c:strRef>
          </c:tx>
          <c:spPr>
            <a:solidFill>
              <a:srgbClr val="C8553D"/>
            </a:solidFill>
            <a:effectLst/>
          </c:spPr>
          <c:invertIfNegative val="0"/>
          <c:dLbls>
            <c:numFmt formatCode="+0.0;-0.0" sourceLinked="0"/>
            <c:txPr>
              <a:bodyPr/>
              <a:lstStyle/>
              <a:p>
                <a:pPr>
                  <a:defRPr b="0" i="0" strike="noStrike" sz="1000" u="none">
                    <a:solidFill>
                      <a:srgbClr val="10252A"/>
                    </a:solidFill>
                    <a:latin typeface="+mn-lt"/>
                  </a:defRPr>
                </a:pPr>
              </a:p>
            </c:txPr>
            <c:showLegendKey val="0"/>
            <c:showVal val="1"/>
            <c:showCatName val="0"/>
            <c:showSerName val="0"/>
            <c:showPercent val="0"/>
            <c:showBubbleSize val="0"/>
            <c:showLeaderLines val="0"/>
          </c:dLbls>
          <c:dPt>
            <c:idx val="0"/>
            <c:invertIfNegative val="0"/>
            <c:bubble3D val="0"/>
            <c:spPr>
              <a:solidFill>
                <a:srgbClr val="C8553D"/>
              </a:solidFill>
              <a:effectLst/>
            </c:spPr>
          </c:dPt>
          <c:dPt>
            <c:idx val="1"/>
            <c:invertIfNegative val="0"/>
            <c:bubble3D val="0"/>
            <c:spPr>
              <a:solidFill>
                <a:srgbClr val="C8553D"/>
              </a:solidFill>
              <a:effectLst/>
            </c:spPr>
          </c:dPt>
          <c:dPt>
            <c:idx val="2"/>
            <c:invertIfNegative val="0"/>
            <c:bubble3D val="0"/>
            <c:spPr>
              <a:solidFill>
                <a:srgbClr val="C8553D"/>
              </a:solidFill>
              <a:effectLst/>
            </c:spPr>
          </c:dPt>
          <c:dPt>
            <c:idx val="3"/>
            <c:invertIfNegative val="0"/>
            <c:bubble3D val="0"/>
            <c:spPr>
              <a:solidFill>
                <a:srgbClr val="C8553D"/>
              </a:solidFill>
              <a:effectLst/>
            </c:spPr>
          </c:dPt>
          <c:dPt>
            <c:idx val="4"/>
            <c:invertIfNegative val="0"/>
            <c:bubble3D val="0"/>
            <c:spPr>
              <a:solidFill>
                <a:srgbClr val="C8553D"/>
              </a:solidFill>
              <a:effectLst/>
            </c:spPr>
          </c:dPt>
          <c:dPt>
            <c:idx val="5"/>
            <c:invertIfNegative val="0"/>
            <c:bubble3D val="0"/>
            <c:spPr>
              <a:solidFill>
                <a:srgbClr val="C8553D"/>
              </a:solidFill>
              <a:effectLst/>
            </c:spPr>
          </c:dPt>
          <c:dPt>
            <c:idx val="6"/>
            <c:invertIfNegative val="0"/>
            <c:bubble3D val="0"/>
            <c:spPr>
              <a:solidFill>
                <a:srgbClr val="2A9D8F"/>
              </a:solidFill>
              <a:effectLst/>
            </c:spPr>
          </c:dPt>
          <c:dPt>
            <c:idx val="7"/>
            <c:invertIfNegative val="0"/>
            <c:bubble3D val="0"/>
            <c:spPr>
              <a:solidFill>
                <a:srgbClr val="2A9D8F"/>
              </a:solidFill>
              <a:effectLst/>
            </c:spPr>
          </c:dPt>
          <c:cat>
            <c:multiLvlStrRef>
              <c:f>Sheet1!$A$2:$A$9</c:f>
              <c:multiLvlStrCache>
                <c:ptCount val="8"/>
                <c:lvl>
                  <c:pt idx="0">
                    <c:v>Sales</c:v>
                  </c:pt>
                  <c:pt idx="1">
                    <c:v>HR</c:v>
                  </c:pt>
                  <c:pt idx="2">
                    <c:v>Logistics</c:v>
                  </c:pt>
                  <c:pt idx="3">
                    <c:v>Operations</c:v>
                  </c:pt>
                  <c:pt idx="4">
                    <c:v>Finance</c:v>
                  </c:pt>
                  <c:pt idx="5">
                    <c:v>Marketing</c:v>
                  </c:pt>
                  <c:pt idx="6">
                    <c:v>Administration</c:v>
                  </c:pt>
                  <c:pt idx="7">
                    <c:v>IT</c:v>
                  </c:pt>
                </c:lvl>
              </c:multiLvlStrCache>
            </c:multiLvlStrRef>
          </c:cat>
          <c:val>
            <c:numRef>
              <c:f>Sheet1!$B$2:$B$9</c:f>
              <c:numCache>
                <c:formatCode>General</c:formatCode>
                <c:ptCount val="8"/>
                <c:pt idx="0">
                  <c:v>89.3</c:v>
                </c:pt>
                <c:pt idx="1">
                  <c:v>73.9</c:v>
                </c:pt>
                <c:pt idx="2">
                  <c:v>73.9</c:v>
                </c:pt>
                <c:pt idx="3">
                  <c:v>63.8</c:v>
                </c:pt>
                <c:pt idx="4">
                  <c:v>57</c:v>
                </c:pt>
                <c:pt idx="5">
                  <c:v>12.8</c:v>
                </c:pt>
                <c:pt idx="6">
                  <c:v>-51.1</c:v>
                </c:pt>
                <c:pt idx="7">
                  <c:v>-52.1</c:v>
                </c:pt>
              </c:numCache>
            </c:numRef>
          </c:val>
        </c:ser>
        <c:dLbls>
          <c:numFmt formatCode="+0.0;-0.0" sourceLinked="0"/>
          <c:txPr>
            <a:bodyPr/>
            <a:lstStyle/>
            <a:p>
              <a:pPr>
                <a:defRPr b="0" i="0" strike="noStrike" sz="1000" u="none">
                  <a:solidFill>
                    <a:srgbClr val="10252A"/>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0252A"/>
                </a:solidFill>
                <a:latin typeface="+mn-lt"/>
              </a:defRPr>
            </a:pPr>
            <a:endParaRPr lang="en-US"/>
          </a:p>
        </c:txPr>
        <c:crossAx val="2094734552"/>
        <c:crosses val="autoZero"/>
        <c:auto val="1"/>
        <c:lblAlgn val="ctr"/>
        <c:noMultiLvlLbl val="1"/>
      </c:catAx>
      <c:valAx>
        <c:axId val="2094734552"/>
        <c:scaling>
          <c:orientation val="minMax"/>
          <c:max val="110"/>
          <c:min val="-13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Variance (K)</c:v>
                </c:pt>
              </c:strCache>
            </c:strRef>
          </c:tx>
          <c:spPr>
            <a:solidFill>
              <a:srgbClr val="C8553D"/>
            </a:solidFill>
            <a:effectLst/>
          </c:spPr>
          <c:invertIfNegative val="0"/>
          <c:dLbls>
            <c:numFmt formatCode="+0.0;-0.0" sourceLinked="0"/>
            <c:txPr>
              <a:bodyPr/>
              <a:lstStyle/>
              <a:p>
                <a:pPr>
                  <a:defRPr b="0" i="0" strike="noStrike" sz="1000" u="none">
                    <a:solidFill>
                      <a:srgbClr val="10252A"/>
                    </a:solidFill>
                    <a:latin typeface="+mn-lt"/>
                  </a:defRPr>
                </a:pPr>
              </a:p>
            </c:txPr>
            <c:showLegendKey val="0"/>
            <c:showVal val="1"/>
            <c:showCatName val="0"/>
            <c:showSerName val="0"/>
            <c:showPercent val="0"/>
            <c:showBubbleSize val="0"/>
            <c:showLeaderLines val="0"/>
          </c:dLbls>
          <c:dPt>
            <c:idx val="0"/>
            <c:invertIfNegative val="0"/>
            <c:bubble3D val="0"/>
            <c:spPr>
              <a:solidFill>
                <a:srgbClr val="C8553D"/>
              </a:solidFill>
              <a:effectLst/>
            </c:spPr>
          </c:dPt>
          <c:dPt>
            <c:idx val="1"/>
            <c:invertIfNegative val="0"/>
            <c:bubble3D val="0"/>
            <c:spPr>
              <a:solidFill>
                <a:srgbClr val="C8553D"/>
              </a:solidFill>
              <a:effectLst/>
            </c:spPr>
          </c:dPt>
          <c:dPt>
            <c:idx val="2"/>
            <c:invertIfNegative val="0"/>
            <c:bubble3D val="0"/>
            <c:spPr>
              <a:solidFill>
                <a:srgbClr val="C8553D"/>
              </a:solidFill>
              <a:effectLst/>
            </c:spPr>
          </c:dPt>
          <c:dPt>
            <c:idx val="3"/>
            <c:invertIfNegative val="0"/>
            <c:bubble3D val="0"/>
            <c:spPr>
              <a:solidFill>
                <a:srgbClr val="C8553D"/>
              </a:solidFill>
              <a:effectLst/>
            </c:spPr>
          </c:dPt>
          <c:dPt>
            <c:idx val="4"/>
            <c:invertIfNegative val="0"/>
            <c:bubble3D val="0"/>
            <c:spPr>
              <a:solidFill>
                <a:srgbClr val="C8553D"/>
              </a:solidFill>
              <a:effectLst/>
            </c:spPr>
          </c:dPt>
          <c:dPt>
            <c:idx val="5"/>
            <c:invertIfNegative val="0"/>
            <c:bubble3D val="0"/>
            <c:spPr>
              <a:solidFill>
                <a:srgbClr val="2A9D8F"/>
              </a:solidFill>
              <a:effectLst/>
            </c:spPr>
          </c:dPt>
          <c:dPt>
            <c:idx val="6"/>
            <c:invertIfNegative val="0"/>
            <c:bubble3D val="0"/>
            <c:spPr>
              <a:solidFill>
                <a:srgbClr val="2A9D8F"/>
              </a:solidFill>
              <a:effectLst/>
            </c:spPr>
          </c:dPt>
          <c:cat>
            <c:multiLvlStrRef>
              <c:f>Sheet1!$A$2:$A$8</c:f>
              <c:multiLvlStrCache>
                <c:ptCount val="7"/>
                <c:lvl>
                  <c:pt idx="0">
                    <c:v>Software &amp; IT</c:v>
                  </c:pt>
                  <c:pt idx="1">
                    <c:v>Utilities</c:v>
                  </c:pt>
                  <c:pt idx="2">
                    <c:v>Office Supplies</c:v>
                  </c:pt>
                  <c:pt idx="3">
                    <c:v>Fuel</c:v>
                  </c:pt>
                  <c:pt idx="4">
                    <c:v>Travel</c:v>
                  </c:pt>
                  <c:pt idx="5">
                    <c:v>Equipment</c:v>
                  </c:pt>
                  <c:pt idx="6">
                    <c:v>Marketing</c:v>
                  </c:pt>
                </c:lvl>
              </c:multiLvlStrCache>
            </c:multiLvlStrRef>
          </c:cat>
          <c:val>
            <c:numRef>
              <c:f>Sheet1!$B$2:$B$8</c:f>
              <c:numCache>
                <c:formatCode>General</c:formatCode>
                <c:ptCount val="7"/>
                <c:pt idx="0">
                  <c:v>172.7</c:v>
                </c:pt>
                <c:pt idx="1">
                  <c:v>67.2</c:v>
                </c:pt>
                <c:pt idx="2">
                  <c:v>63</c:v>
                </c:pt>
                <c:pt idx="3">
                  <c:v>59.2</c:v>
                </c:pt>
                <c:pt idx="4">
                  <c:v>46.7</c:v>
                </c:pt>
                <c:pt idx="5">
                  <c:v>-84.1</c:v>
                </c:pt>
                <c:pt idx="6">
                  <c:v>-121.6</c:v>
                </c:pt>
              </c:numCache>
            </c:numRef>
          </c:val>
        </c:ser>
        <c:dLbls>
          <c:numFmt formatCode="+0.0;-0.0" sourceLinked="0"/>
          <c:txPr>
            <a:bodyPr/>
            <a:lstStyle/>
            <a:p>
              <a:pPr>
                <a:defRPr b="0" i="0" strike="noStrike" sz="1000" u="none">
                  <a:solidFill>
                    <a:srgbClr val="10252A"/>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0252A"/>
                </a:solidFill>
                <a:latin typeface="+mn-lt"/>
              </a:defRPr>
            </a:pPr>
            <a:endParaRPr lang="en-US"/>
          </a:p>
        </c:txPr>
        <c:crossAx val="2094734552"/>
        <c:crosses val="autoZero"/>
        <c:auto val="1"/>
        <c:lblAlgn val="ctr"/>
        <c:noMultiLvlLbl val="1"/>
      </c:catAx>
      <c:valAx>
        <c:axId val="2094734552"/>
        <c:scaling>
          <c:orientation val="minMax"/>
          <c:max val="210"/>
          <c:min val="-23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Variance (K)</c:v>
                </c:pt>
              </c:strCache>
            </c:strRef>
          </c:tx>
          <c:spPr>
            <a:solidFill>
              <a:srgbClr val="C8553D"/>
            </a:solidFill>
            <a:effectLst/>
          </c:spPr>
          <c:invertIfNegative val="0"/>
          <c:dLbls>
            <c:numFmt formatCode="+0.0;-0.0" sourceLinked="0"/>
            <c:txPr>
              <a:bodyPr/>
              <a:lstStyle/>
              <a:p>
                <a:pPr>
                  <a:defRPr b="0" i="0" strike="noStrike" sz="1000" u="none">
                    <a:solidFill>
                      <a:srgbClr val="10252A"/>
                    </a:solidFill>
                    <a:latin typeface="+mn-lt"/>
                  </a:defRPr>
                </a:pPr>
              </a:p>
            </c:txPr>
            <c:showLegendKey val="0"/>
            <c:showVal val="1"/>
            <c:showCatName val="0"/>
            <c:showSerName val="0"/>
            <c:showPercent val="0"/>
            <c:showBubbleSize val="0"/>
            <c:showLeaderLines val="0"/>
          </c:dLbls>
          <c:dPt>
            <c:idx val="0"/>
            <c:invertIfNegative val="0"/>
            <c:bubble3D val="0"/>
            <c:spPr>
              <a:solidFill>
                <a:srgbClr val="C8553D"/>
              </a:solidFill>
              <a:effectLst/>
            </c:spPr>
          </c:dPt>
          <c:dPt>
            <c:idx val="1"/>
            <c:invertIfNegative val="0"/>
            <c:bubble3D val="0"/>
            <c:spPr>
              <a:solidFill>
                <a:srgbClr val="C8553D"/>
              </a:solidFill>
              <a:effectLst/>
            </c:spPr>
          </c:dPt>
          <c:dPt>
            <c:idx val="2"/>
            <c:invertIfNegative val="0"/>
            <c:bubble3D val="0"/>
            <c:spPr>
              <a:solidFill>
                <a:srgbClr val="2A9D8F"/>
              </a:solidFill>
              <a:effectLst/>
            </c:spPr>
          </c:dPt>
          <c:dPt>
            <c:idx val="3"/>
            <c:invertIfNegative val="0"/>
            <c:bubble3D val="0"/>
            <c:spPr>
              <a:solidFill>
                <a:srgbClr val="C8553D"/>
              </a:solidFill>
              <a:effectLst/>
            </c:spPr>
          </c:dPt>
          <c:dPt>
            <c:idx val="4"/>
            <c:invertIfNegative val="0"/>
            <c:bubble3D val="0"/>
            <c:spPr>
              <a:solidFill>
                <a:srgbClr val="C8553D"/>
              </a:solidFill>
              <a:effectLst/>
            </c:spPr>
          </c:dPt>
          <c:dPt>
            <c:idx val="5"/>
            <c:invertIfNegative val="0"/>
            <c:bubble3D val="0"/>
            <c:spPr>
              <a:solidFill>
                <a:srgbClr val="C8553D"/>
              </a:solidFill>
              <a:effectLst/>
            </c:spPr>
          </c:dPt>
          <c:dPt>
            <c:idx val="6"/>
            <c:invertIfNegative val="0"/>
            <c:bubble3D val="0"/>
            <c:spPr>
              <a:solidFill>
                <a:srgbClr val="2A9D8F"/>
              </a:solidFill>
              <a:effectLst/>
            </c:spPr>
          </c:dPt>
          <c:dPt>
            <c:idx val="7"/>
            <c:invertIfNegative val="0"/>
            <c:bubble3D val="0"/>
            <c:spPr>
              <a:solidFill>
                <a:srgbClr val="C8553D"/>
              </a:solidFill>
              <a:effectLst/>
            </c:spPr>
          </c:dPt>
          <c:dPt>
            <c:idx val="8"/>
            <c:invertIfNegative val="0"/>
            <c:bubble3D val="0"/>
            <c:spPr>
              <a:solidFill>
                <a:srgbClr val="2A9D8F"/>
              </a:solidFill>
              <a:effectLst/>
            </c:spPr>
          </c:dPt>
          <c:dPt>
            <c:idx val="9"/>
            <c:invertIfNegative val="0"/>
            <c:bubble3D val="0"/>
            <c:spPr>
              <a:solidFill>
                <a:srgbClr val="2A9D8F"/>
              </a:solidFill>
              <a:effectLst/>
            </c:spPr>
          </c:dPt>
          <c:dPt>
            <c:idx val="10"/>
            <c:invertIfNegative val="0"/>
            <c:bubble3D val="0"/>
            <c:spPr>
              <a:solidFill>
                <a:srgbClr val="C8553D"/>
              </a:solidFill>
              <a:effectLst/>
            </c:spPr>
          </c:dPt>
          <c:dPt>
            <c:idx val="11"/>
            <c:invertIfNegative val="0"/>
            <c:bubble3D val="0"/>
            <c:spPr>
              <a:solidFill>
                <a:srgbClr val="C8553D"/>
              </a:solidFill>
              <a:effectLst/>
            </c:spPr>
          </c:dPt>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127.5</c:v>
                </c:pt>
                <c:pt idx="1">
                  <c:v>0.6</c:v>
                </c:pt>
                <c:pt idx="2">
                  <c:v>-35.5</c:v>
                </c:pt>
                <c:pt idx="3">
                  <c:v>32.6</c:v>
                </c:pt>
                <c:pt idx="4">
                  <c:v>8.1</c:v>
                </c:pt>
                <c:pt idx="5">
                  <c:v>48.9</c:v>
                </c:pt>
                <c:pt idx="6">
                  <c:v>-4.6</c:v>
                </c:pt>
                <c:pt idx="7">
                  <c:v>58.2</c:v>
                </c:pt>
                <c:pt idx="8">
                  <c:v>-48.4</c:v>
                </c:pt>
                <c:pt idx="9">
                  <c:v>-23</c:v>
                </c:pt>
                <c:pt idx="10">
                  <c:v>41.7</c:v>
                </c:pt>
                <c:pt idx="11">
                  <c:v>61.5</c:v>
                </c:pt>
              </c:numCache>
            </c:numRef>
          </c:val>
        </c:ser>
        <c:dLbls>
          <c:numFmt formatCode="+0.0;-0.0" sourceLinked="0"/>
          <c:txPr>
            <a:bodyPr/>
            <a:lstStyle/>
            <a:p>
              <a:pPr>
                <a:defRPr b="0" i="0" strike="noStrike" sz="1000" u="none">
                  <a:solidFill>
                    <a:srgbClr val="10252A"/>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0252A"/>
                </a:solidFill>
                <a:latin typeface="+mn-lt"/>
              </a:defRPr>
            </a:pPr>
            <a:endParaRPr lang="en-US"/>
          </a:p>
        </c:txPr>
        <c:crossAx val="2094734552"/>
        <c:crosses val="autoZero"/>
        <c:auto val="1"/>
        <c:lblAlgn val="ctr"/>
        <c:noMultiLvlLbl val="1"/>
      </c:catAx>
      <c:valAx>
        <c:axId val="2094734552"/>
        <c:scaling>
          <c:orientation val="minMax"/>
          <c:max val="155"/>
          <c:min val="-7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 Companies prepare budgets for every department, but actual spending often goes above them. Small expenses such as travel, office supplies and operational costs add up and become leakage. In this project I used an Excel dashboard on a dataset of 2,000 records (2024-2026, 8 departments, 12 expense categories) to find where the leakage happens.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 First the data was cleaned and organised. Then the dataset was collected (a sample dataset prepared for this learning project). Then three calculated columns were added: Variance, Variance Percentage and Budget Status. Finally everything was shown in an Excel dashboard using PivotTables, charts and slicers. Positive variance means overspending.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Q1: Red bars are overspending, green bars are under budget. Sales (+89K), HR (+74K), Logistics (+74K), Operations (+64K) and Finance (+57K) spend more than planned. Administration and IT are below budget. By percentage, HR (+2.7%) and Finance (+2.1%) overspend the most relative to their budget.
Q2: Software &amp; IT contributes the most (+173K, 3.4%), then Utilities (+67K), Office Supplies (+63K, 3.5% - highest percentage) and Fuel (+59K). Marketing (-122K) and Equipment (-84K) are under budget, which shows budget planning can be improved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Q3: Total budget is 41.86 million and total actual spend is 42.13 million, so the net variance is +267,620 (about 0.64% over). 903 records are over budget, 814 under and 283 exactly on budget. The overall gap looks small, but it is concentrated in a few departments and categories.
Q4: Month by month, January has the highest overspend (+127K), followed by December, August and June. March, July, September and October are under budget. Year-wise, 2026 shows a higher overspend (+126K) than 2024 and 2025.
For the Phase 2 requirement (April to June 2026): variance was April 32330, May 810, June 23130.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Q5: Closer monitoring is needed for Sales, HR, Logistics and Finance, and for Software &amp; IT, Utilities and Office Supplies.
Q6: Set variance limits and alerts, review software licences and utility usage, add approval steps for the departments that overspend, move unused budget from Marketing and Equipment, and review monthly.
Conclusion and future work: connect the dashboard to real expense records, add budget-limit alerts and forecasting. The reference paper uses Isolation Forest and K-Means to detect abnormal spending, which can be a future enhancement.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2"/>
          </a:solidFill>
          <a:ln/>
        </p:spPr>
      </p:sp>
      <p:sp>
        <p:nvSpPr>
          <p:cNvPr id="3" name="Text 1"/>
          <p:cNvSpPr/>
          <p:nvPr>
            <p:ph idx="101" type="title" hasCustomPrompt="1"/>
          </p:nvPr>
        </p:nvSpPr>
        <p:spPr>
          <a:xfrm>
            <a:off x="548640" y="548640"/>
            <a:ext cx="4297680" cy="173736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4008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832104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7C80"/>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7C80"/>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548640" y="548640"/>
            <a:ext cx="4297680" cy="1737360"/>
          </a:xfrm>
          <a:prstGeom prst="rect">
            <a:avLst/>
          </a:prstGeom>
          <a:noFill/>
          <a:ln/>
        </p:spPr>
        <p:txBody>
          <a:bodyPr wrap="square" lIns="0" tIns="0" rIns="0" bIns="0" rtlCol="0" anchor="t"/>
          <a:lstStyle/>
          <a:p>
            <a:pPr algn="l" indent="0" marL="0">
              <a:buNone/>
            </a:pPr>
            <a:r>
              <a:rPr lang="en-US" sz="3600" b="1" dirty="0">
                <a:solidFill>
                  <a:schemeClr val="bg1"/>
                </a:solidFill>
              </a:rPr>
              <a:t>Tracking Monthly Expense Leakage in a Business</a:t>
            </a:r>
            <a:endParaRPr lang="en-US" sz="3600" dirty="0"/>
          </a:p>
        </p:txBody>
      </p:sp>
      <p:sp>
        <p:nvSpPr>
          <p:cNvPr id="3" name="Text 1"/>
          <p:cNvSpPr txBox="1"/>
          <p:nvPr/>
        </p:nvSpPr>
        <p:spPr>
          <a:xfrm>
            <a:off x="548640" y="2423160"/>
            <a:ext cx="4297680" cy="365760"/>
          </a:xfrm>
          <a:prstGeom prst="rect">
            <a:avLst/>
          </a:prstGeom>
          <a:noFill/>
          <a:ln/>
        </p:spPr>
        <p:txBody>
          <a:bodyPr wrap="square" lIns="0" tIns="0" rIns="0" bIns="0" rtlCol="0" anchor="ctr"/>
          <a:lstStyle/>
          <a:p>
            <a:pPr indent="0" marL="0">
              <a:buNone/>
            </a:pPr>
            <a:r>
              <a:rPr lang="en-US" sz="1600" dirty="0">
                <a:solidFill>
                  <a:schemeClr val="accent6"/>
                </a:solidFill>
              </a:rPr>
              <a:t>Excel dashboard: Budget vs Actual spend</a:t>
            </a:r>
            <a:endParaRPr lang="en-US" sz="1600" dirty="0"/>
          </a:p>
        </p:txBody>
      </p:sp>
      <p:sp>
        <p:nvSpPr>
          <p:cNvPr id="4" name="Text 2"/>
          <p:cNvSpPr txBox="1"/>
          <p:nvPr/>
        </p:nvSpPr>
        <p:spPr>
          <a:xfrm>
            <a:off x="548640" y="3017520"/>
            <a:ext cx="4297680" cy="1463040"/>
          </a:xfrm>
          <a:prstGeom prst="rect">
            <a:avLst/>
          </a:prstGeom>
          <a:noFill/>
          <a:ln/>
        </p:spPr>
        <p:txBody>
          <a:bodyPr wrap="square" lIns="0" tIns="0" rIns="0" bIns="0" rtlCol="0" anchor="t"/>
          <a:lstStyle/>
          <a:p>
            <a:pPr indent="0" marL="0">
              <a:buNone/>
            </a:pPr>
            <a:r>
              <a:rPr lang="en-US" sz="1400" b="1" dirty="0">
                <a:solidFill>
                  <a:schemeClr val="accent2"/>
                </a:solidFill>
              </a:rPr>
              <a:t>Problem: </a:t>
            </a:r>
            <a:pPr indent="0" marL="0">
              <a:buNone/>
            </a:pPr>
            <a:r>
              <a:rPr lang="en-US" sz="1400" dirty="0">
                <a:solidFill>
                  <a:schemeClr val="bg1"/>
                </a:solidFill>
              </a:rPr>
              <a:t>Budgets are planned for every department, yet actual spend keeps crossing them. Small costs like travel, supplies and operations add up to real leakage.</a:t>
            </a:r>
            <a:endParaRPr lang="en-US" sz="1400" dirty="0"/>
          </a:p>
        </p:txBody>
      </p:sp>
      <p:sp>
        <p:nvSpPr>
          <p:cNvPr id="5" name="Stat tile 1"/>
          <p:cNvSpPr/>
          <p:nvPr/>
        </p:nvSpPr>
        <p:spPr>
          <a:xfrm>
            <a:off x="5212080" y="914400"/>
            <a:ext cx="1691640" cy="1371600"/>
          </a:xfrm>
          <a:prstGeom prst="roundRect">
            <a:avLst>
              <a:gd name="adj" fmla="val 8000"/>
            </a:avLst>
          </a:prstGeom>
          <a:solidFill>
            <a:schemeClr val="accent1"/>
          </a:solidFill>
          <a:ln w="12700">
            <a:solidFill>
              <a:schemeClr val="accent1"/>
            </a:solidFill>
            <a:prstDash val="solid"/>
          </a:ln>
        </p:spPr>
      </p:sp>
      <p:sp>
        <p:nvSpPr>
          <p:cNvPr id="6" name="Text 4"/>
          <p:cNvSpPr txBox="1"/>
          <p:nvPr/>
        </p:nvSpPr>
        <p:spPr>
          <a:xfrm>
            <a:off x="5212080" y="1097280"/>
            <a:ext cx="1691640" cy="594360"/>
          </a:xfrm>
          <a:prstGeom prst="rect">
            <a:avLst/>
          </a:prstGeom>
          <a:noFill/>
          <a:ln/>
        </p:spPr>
        <p:txBody>
          <a:bodyPr wrap="square" lIns="0" tIns="0" rIns="0" bIns="0" rtlCol="0" anchor="ctr"/>
          <a:lstStyle/>
          <a:p>
            <a:pPr algn="ctr" indent="0" marL="0">
              <a:buNone/>
            </a:pPr>
            <a:r>
              <a:rPr lang="en-US" sz="3200" b="1" dirty="0">
                <a:solidFill>
                  <a:schemeClr val="accent2"/>
                </a:solidFill>
              </a:rPr>
              <a:t>2,000</a:t>
            </a:r>
            <a:endParaRPr lang="en-US" sz="3200" dirty="0"/>
          </a:p>
        </p:txBody>
      </p:sp>
      <p:sp>
        <p:nvSpPr>
          <p:cNvPr id="7" name="Text 5"/>
          <p:cNvSpPr txBox="1"/>
          <p:nvPr/>
        </p:nvSpPr>
        <p:spPr>
          <a:xfrm>
            <a:off x="5212080" y="1691640"/>
            <a:ext cx="1691640" cy="411480"/>
          </a:xfrm>
          <a:prstGeom prst="rect">
            <a:avLst/>
          </a:prstGeom>
          <a:noFill/>
          <a:ln/>
        </p:spPr>
        <p:txBody>
          <a:bodyPr wrap="square" lIns="0" tIns="0" rIns="0" bIns="0" rtlCol="0" anchor="ctr"/>
          <a:lstStyle/>
          <a:p>
            <a:pPr algn="ctr" indent="0" marL="0">
              <a:buNone/>
            </a:pPr>
            <a:r>
              <a:rPr lang="en-US" sz="1400" dirty="0">
                <a:solidFill>
                  <a:schemeClr val="bg1"/>
                </a:solidFill>
              </a:rPr>
              <a:t>records</a:t>
            </a:r>
            <a:endParaRPr lang="en-US" sz="1400" dirty="0"/>
          </a:p>
        </p:txBody>
      </p:sp>
      <p:sp>
        <p:nvSpPr>
          <p:cNvPr id="8" name="Stat tile 2"/>
          <p:cNvSpPr/>
          <p:nvPr/>
        </p:nvSpPr>
        <p:spPr>
          <a:xfrm>
            <a:off x="7040880" y="914400"/>
            <a:ext cx="1691640" cy="1371600"/>
          </a:xfrm>
          <a:prstGeom prst="roundRect">
            <a:avLst>
              <a:gd name="adj" fmla="val 8000"/>
            </a:avLst>
          </a:prstGeom>
          <a:solidFill>
            <a:schemeClr val="accent1"/>
          </a:solidFill>
          <a:ln w="12700">
            <a:solidFill>
              <a:schemeClr val="accent1"/>
            </a:solidFill>
            <a:prstDash val="solid"/>
          </a:ln>
        </p:spPr>
      </p:sp>
      <p:sp>
        <p:nvSpPr>
          <p:cNvPr id="9" name="Text 7"/>
          <p:cNvSpPr txBox="1"/>
          <p:nvPr/>
        </p:nvSpPr>
        <p:spPr>
          <a:xfrm>
            <a:off x="7040880" y="1097280"/>
            <a:ext cx="1691640" cy="594360"/>
          </a:xfrm>
          <a:prstGeom prst="rect">
            <a:avLst/>
          </a:prstGeom>
          <a:noFill/>
          <a:ln/>
        </p:spPr>
        <p:txBody>
          <a:bodyPr wrap="square" lIns="0" tIns="0" rIns="0" bIns="0" rtlCol="0" anchor="ctr"/>
          <a:lstStyle/>
          <a:p>
            <a:pPr algn="ctr" indent="0" marL="0">
              <a:buNone/>
            </a:pPr>
            <a:r>
              <a:rPr lang="en-US" sz="3200" b="1" dirty="0">
                <a:solidFill>
                  <a:schemeClr val="accent2"/>
                </a:solidFill>
              </a:rPr>
              <a:t>3 yrs</a:t>
            </a:r>
            <a:endParaRPr lang="en-US" sz="3200" dirty="0"/>
          </a:p>
        </p:txBody>
      </p:sp>
      <p:sp>
        <p:nvSpPr>
          <p:cNvPr id="10" name="Text 8"/>
          <p:cNvSpPr txBox="1"/>
          <p:nvPr/>
        </p:nvSpPr>
        <p:spPr>
          <a:xfrm>
            <a:off x="7040880" y="1691640"/>
            <a:ext cx="1691640" cy="411480"/>
          </a:xfrm>
          <a:prstGeom prst="rect">
            <a:avLst/>
          </a:prstGeom>
          <a:noFill/>
          <a:ln/>
        </p:spPr>
        <p:txBody>
          <a:bodyPr wrap="square" lIns="0" tIns="0" rIns="0" bIns="0" rtlCol="0" anchor="ctr"/>
          <a:lstStyle/>
          <a:p>
            <a:pPr algn="ctr" indent="0" marL="0">
              <a:buNone/>
            </a:pPr>
            <a:r>
              <a:rPr lang="en-US" sz="1400" dirty="0">
                <a:solidFill>
                  <a:schemeClr val="bg1"/>
                </a:solidFill>
              </a:rPr>
              <a:t>2024 to 2026</a:t>
            </a:r>
            <a:endParaRPr lang="en-US" sz="1400" dirty="0"/>
          </a:p>
        </p:txBody>
      </p:sp>
      <p:sp>
        <p:nvSpPr>
          <p:cNvPr id="11" name="Stat tile 3"/>
          <p:cNvSpPr/>
          <p:nvPr/>
        </p:nvSpPr>
        <p:spPr>
          <a:xfrm>
            <a:off x="5212080" y="2468880"/>
            <a:ext cx="1691640" cy="1371600"/>
          </a:xfrm>
          <a:prstGeom prst="roundRect">
            <a:avLst>
              <a:gd name="adj" fmla="val 8000"/>
            </a:avLst>
          </a:prstGeom>
          <a:solidFill>
            <a:schemeClr val="accent1"/>
          </a:solidFill>
          <a:ln w="12700">
            <a:solidFill>
              <a:schemeClr val="accent1"/>
            </a:solidFill>
            <a:prstDash val="solid"/>
          </a:ln>
        </p:spPr>
      </p:sp>
      <p:sp>
        <p:nvSpPr>
          <p:cNvPr id="12" name="Text 10"/>
          <p:cNvSpPr txBox="1"/>
          <p:nvPr/>
        </p:nvSpPr>
        <p:spPr>
          <a:xfrm>
            <a:off x="5212080" y="2651760"/>
            <a:ext cx="1691640" cy="594360"/>
          </a:xfrm>
          <a:prstGeom prst="rect">
            <a:avLst/>
          </a:prstGeom>
          <a:noFill/>
          <a:ln/>
        </p:spPr>
        <p:txBody>
          <a:bodyPr wrap="square" lIns="0" tIns="0" rIns="0" bIns="0" rtlCol="0" anchor="ctr"/>
          <a:lstStyle/>
          <a:p>
            <a:pPr algn="ctr" indent="0" marL="0">
              <a:buNone/>
            </a:pPr>
            <a:r>
              <a:rPr lang="en-US" sz="3200" b="1" dirty="0">
                <a:solidFill>
                  <a:schemeClr val="accent2"/>
                </a:solidFill>
              </a:rPr>
              <a:t>8</a:t>
            </a:r>
            <a:endParaRPr lang="en-US" sz="3200" dirty="0"/>
          </a:p>
        </p:txBody>
      </p:sp>
      <p:sp>
        <p:nvSpPr>
          <p:cNvPr id="13" name="Text 11"/>
          <p:cNvSpPr txBox="1"/>
          <p:nvPr/>
        </p:nvSpPr>
        <p:spPr>
          <a:xfrm>
            <a:off x="5212080" y="3246120"/>
            <a:ext cx="1691640" cy="411480"/>
          </a:xfrm>
          <a:prstGeom prst="rect">
            <a:avLst/>
          </a:prstGeom>
          <a:noFill/>
          <a:ln/>
        </p:spPr>
        <p:txBody>
          <a:bodyPr wrap="square" lIns="0" tIns="0" rIns="0" bIns="0" rtlCol="0" anchor="ctr"/>
          <a:lstStyle/>
          <a:p>
            <a:pPr algn="ctr" indent="0" marL="0">
              <a:buNone/>
            </a:pPr>
            <a:r>
              <a:rPr lang="en-US" sz="1400" dirty="0">
                <a:solidFill>
                  <a:schemeClr val="bg1"/>
                </a:solidFill>
              </a:rPr>
              <a:t>departments</a:t>
            </a:r>
            <a:endParaRPr lang="en-US" sz="1400" dirty="0"/>
          </a:p>
        </p:txBody>
      </p:sp>
      <p:sp>
        <p:nvSpPr>
          <p:cNvPr id="14" name="Stat tile 4"/>
          <p:cNvSpPr/>
          <p:nvPr/>
        </p:nvSpPr>
        <p:spPr>
          <a:xfrm>
            <a:off x="7040880" y="2468880"/>
            <a:ext cx="1691640" cy="1371600"/>
          </a:xfrm>
          <a:prstGeom prst="roundRect">
            <a:avLst>
              <a:gd name="adj" fmla="val 8000"/>
            </a:avLst>
          </a:prstGeom>
          <a:solidFill>
            <a:schemeClr val="accent1"/>
          </a:solidFill>
          <a:ln w="12700">
            <a:solidFill>
              <a:schemeClr val="accent1"/>
            </a:solidFill>
            <a:prstDash val="solid"/>
          </a:ln>
        </p:spPr>
      </p:sp>
      <p:sp>
        <p:nvSpPr>
          <p:cNvPr id="15" name="Text 13"/>
          <p:cNvSpPr txBox="1"/>
          <p:nvPr/>
        </p:nvSpPr>
        <p:spPr>
          <a:xfrm>
            <a:off x="7040880" y="2651760"/>
            <a:ext cx="1691640" cy="594360"/>
          </a:xfrm>
          <a:prstGeom prst="rect">
            <a:avLst/>
          </a:prstGeom>
          <a:noFill/>
          <a:ln/>
        </p:spPr>
        <p:txBody>
          <a:bodyPr wrap="square" lIns="0" tIns="0" rIns="0" bIns="0" rtlCol="0" anchor="ctr"/>
          <a:lstStyle/>
          <a:p>
            <a:pPr algn="ctr" indent="0" marL="0">
              <a:buNone/>
            </a:pPr>
            <a:r>
              <a:rPr lang="en-US" sz="3200" b="1" dirty="0">
                <a:solidFill>
                  <a:schemeClr val="accent2"/>
                </a:solidFill>
              </a:rPr>
              <a:t>12</a:t>
            </a:r>
            <a:endParaRPr lang="en-US" sz="3200" dirty="0"/>
          </a:p>
        </p:txBody>
      </p:sp>
      <p:sp>
        <p:nvSpPr>
          <p:cNvPr id="16" name="Text 14"/>
          <p:cNvSpPr txBox="1"/>
          <p:nvPr/>
        </p:nvSpPr>
        <p:spPr>
          <a:xfrm>
            <a:off x="7040880" y="3246120"/>
            <a:ext cx="1691640" cy="411480"/>
          </a:xfrm>
          <a:prstGeom prst="rect">
            <a:avLst/>
          </a:prstGeom>
          <a:noFill/>
          <a:ln/>
        </p:spPr>
        <p:txBody>
          <a:bodyPr wrap="square" lIns="0" tIns="0" rIns="0" bIns="0" rtlCol="0" anchor="ctr"/>
          <a:lstStyle/>
          <a:p>
            <a:pPr algn="ctr" indent="0" marL="0">
              <a:buNone/>
            </a:pPr>
            <a:r>
              <a:rPr lang="en-US" sz="1400" dirty="0">
                <a:solidFill>
                  <a:schemeClr val="bg1"/>
                </a:solidFill>
              </a:rPr>
              <a:t>expense categories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rPr>
              <a:t>Method: from raw data to dashboard</a:t>
            </a:r>
            <a:endParaRPr lang="en-US" sz="3000" dirty="0"/>
          </a:p>
        </p:txBody>
      </p:sp>
      <p:sp>
        <p:nvSpPr>
          <p:cNvPr id="3" name="Step card 1"/>
          <p:cNvSpPr/>
          <p:nvPr/>
        </p:nvSpPr>
        <p:spPr>
          <a:xfrm>
            <a:off x="457200" y="1097280"/>
            <a:ext cx="1920240" cy="2103120"/>
          </a:xfrm>
          <a:prstGeom prst="roundRect">
            <a:avLst>
              <a:gd name="adj" fmla="val 4762"/>
            </a:avLst>
          </a:prstGeom>
          <a:solidFill>
            <a:schemeClr val="bg2"/>
          </a:solidFill>
          <a:ln w="12700">
            <a:solidFill>
              <a:schemeClr val="bg2"/>
            </a:solidFill>
            <a:prstDash val="solid"/>
          </a:ln>
        </p:spPr>
      </p:sp>
      <p:sp>
        <p:nvSpPr>
          <p:cNvPr id="4" name="Step badge 1"/>
          <p:cNvSpPr/>
          <p:nvPr/>
        </p:nvSpPr>
        <p:spPr>
          <a:xfrm>
            <a:off x="594360" y="1234440"/>
            <a:ext cx="457200" cy="457200"/>
          </a:xfrm>
          <a:prstGeom prst="ellipse">
            <a:avLst/>
          </a:prstGeom>
          <a:solidFill>
            <a:schemeClr val="accent1"/>
          </a:solidFill>
          <a:ln w="12700">
            <a:solidFill>
              <a:schemeClr val="accent1"/>
            </a:solidFill>
            <a:prstDash val="solid"/>
          </a:ln>
        </p:spPr>
      </p:sp>
      <p:sp>
        <p:nvSpPr>
          <p:cNvPr id="5" name="Text 3"/>
          <p:cNvSpPr txBox="1"/>
          <p:nvPr/>
        </p:nvSpPr>
        <p:spPr>
          <a:xfrm>
            <a:off x="594360" y="12344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594360" y="1783080"/>
            <a:ext cx="1645920" cy="320040"/>
          </a:xfrm>
          <a:prstGeom prst="rect">
            <a:avLst/>
          </a:prstGeom>
          <a:noFill/>
          <a:ln/>
        </p:spPr>
        <p:txBody>
          <a:bodyPr wrap="square" lIns="0" tIns="0" rIns="0" bIns="0" rtlCol="0" anchor="ctr"/>
          <a:lstStyle/>
          <a:p>
            <a:pPr indent="0" marL="0">
              <a:buNone/>
            </a:pPr>
            <a:r>
              <a:rPr lang="en-US" sz="1800" b="1" dirty="0">
                <a:solidFill>
                  <a:schemeClr val="tx2"/>
                </a:solidFill>
              </a:rPr>
              <a:t>Clean</a:t>
            </a:r>
            <a:endParaRPr lang="en-US" sz="1800" dirty="0"/>
          </a:p>
        </p:txBody>
      </p:sp>
      <p:sp>
        <p:nvSpPr>
          <p:cNvPr id="7" name="Text 5"/>
          <p:cNvSpPr txBox="1"/>
          <p:nvPr/>
        </p:nvSpPr>
        <p:spPr>
          <a:xfrm>
            <a:off x="594360" y="2148840"/>
            <a:ext cx="1645920" cy="960120"/>
          </a:xfrm>
          <a:prstGeom prst="rect">
            <a:avLst/>
          </a:prstGeom>
          <a:noFill/>
          <a:ln/>
        </p:spPr>
        <p:txBody>
          <a:bodyPr wrap="square" lIns="0" tIns="0" rIns="0" bIns="0" rtlCol="0" anchor="t"/>
          <a:lstStyle/>
          <a:p>
            <a:pPr indent="0" marL="0">
              <a:buNone/>
            </a:pPr>
            <a:r>
              <a:rPr lang="en-US" sz="1400" dirty="0">
                <a:solidFill>
                  <a:schemeClr val="tx1"/>
                </a:solidFill>
              </a:rPr>
              <a:t>Consistent names and formats, no missing values, unique Expense IDs</a:t>
            </a:r>
            <a:endParaRPr lang="en-US" sz="1400" dirty="0"/>
          </a:p>
        </p:txBody>
      </p:sp>
      <p:sp>
        <p:nvSpPr>
          <p:cNvPr id="8" name="Step card 2"/>
          <p:cNvSpPr/>
          <p:nvPr/>
        </p:nvSpPr>
        <p:spPr>
          <a:xfrm>
            <a:off x="2560320" y="1097280"/>
            <a:ext cx="1920240" cy="2103120"/>
          </a:xfrm>
          <a:prstGeom prst="roundRect">
            <a:avLst>
              <a:gd name="adj" fmla="val 4762"/>
            </a:avLst>
          </a:prstGeom>
          <a:solidFill>
            <a:schemeClr val="bg2"/>
          </a:solidFill>
          <a:ln w="12700">
            <a:solidFill>
              <a:schemeClr val="bg2"/>
            </a:solidFill>
            <a:prstDash val="solid"/>
          </a:ln>
        </p:spPr>
      </p:sp>
      <p:sp>
        <p:nvSpPr>
          <p:cNvPr id="9" name="Step badge 2"/>
          <p:cNvSpPr/>
          <p:nvPr/>
        </p:nvSpPr>
        <p:spPr>
          <a:xfrm>
            <a:off x="2697480" y="1234440"/>
            <a:ext cx="457200" cy="457200"/>
          </a:xfrm>
          <a:prstGeom prst="ellipse">
            <a:avLst/>
          </a:prstGeom>
          <a:solidFill>
            <a:schemeClr val="accent1"/>
          </a:solidFill>
          <a:ln w="12700">
            <a:solidFill>
              <a:schemeClr val="accent1"/>
            </a:solidFill>
            <a:prstDash val="solid"/>
          </a:ln>
        </p:spPr>
      </p:sp>
      <p:sp>
        <p:nvSpPr>
          <p:cNvPr id="10" name="Text 8"/>
          <p:cNvSpPr txBox="1"/>
          <p:nvPr/>
        </p:nvSpPr>
        <p:spPr>
          <a:xfrm>
            <a:off x="2697480" y="12344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9"/>
          <p:cNvSpPr txBox="1"/>
          <p:nvPr/>
        </p:nvSpPr>
        <p:spPr>
          <a:xfrm>
            <a:off x="2697480" y="1783080"/>
            <a:ext cx="1645920" cy="320040"/>
          </a:xfrm>
          <a:prstGeom prst="rect">
            <a:avLst/>
          </a:prstGeom>
          <a:noFill/>
          <a:ln/>
        </p:spPr>
        <p:txBody>
          <a:bodyPr wrap="square" lIns="0" tIns="0" rIns="0" bIns="0" rtlCol="0" anchor="ctr"/>
          <a:lstStyle/>
          <a:p>
            <a:pPr indent="0" marL="0">
              <a:buNone/>
            </a:pPr>
            <a:r>
              <a:rPr lang="en-US" sz="1800" b="1" dirty="0">
                <a:solidFill>
                  <a:schemeClr val="tx2"/>
                </a:solidFill>
              </a:rPr>
              <a:t>Collect</a:t>
            </a:r>
            <a:endParaRPr lang="en-US" sz="1800" dirty="0"/>
          </a:p>
        </p:txBody>
      </p:sp>
      <p:sp>
        <p:nvSpPr>
          <p:cNvPr id="12" name="Text 10"/>
          <p:cNvSpPr txBox="1"/>
          <p:nvPr/>
        </p:nvSpPr>
        <p:spPr>
          <a:xfrm>
            <a:off x="2697480" y="2148840"/>
            <a:ext cx="1645920" cy="960120"/>
          </a:xfrm>
          <a:prstGeom prst="rect">
            <a:avLst/>
          </a:prstGeom>
          <a:noFill/>
          <a:ln/>
        </p:spPr>
        <p:txBody>
          <a:bodyPr wrap="square" lIns="0" tIns="0" rIns="0" bIns="0" rtlCol="0" anchor="t"/>
          <a:lstStyle/>
          <a:p>
            <a:pPr indent="0" marL="0">
              <a:buNone/>
            </a:pPr>
            <a:r>
              <a:rPr lang="en-US" sz="1400" dirty="0">
                <a:solidFill>
                  <a:schemeClr val="tx1"/>
                </a:solidFill>
              </a:rPr>
              <a:t>2,000 sample records with department, category, month, budget and actual</a:t>
            </a:r>
            <a:endParaRPr lang="en-US" sz="1400" dirty="0"/>
          </a:p>
        </p:txBody>
      </p:sp>
      <p:sp>
        <p:nvSpPr>
          <p:cNvPr id="13" name="Step card 3"/>
          <p:cNvSpPr/>
          <p:nvPr/>
        </p:nvSpPr>
        <p:spPr>
          <a:xfrm>
            <a:off x="4663440" y="1097280"/>
            <a:ext cx="1920240" cy="2103120"/>
          </a:xfrm>
          <a:prstGeom prst="roundRect">
            <a:avLst>
              <a:gd name="adj" fmla="val 4762"/>
            </a:avLst>
          </a:prstGeom>
          <a:solidFill>
            <a:schemeClr val="bg2"/>
          </a:solidFill>
          <a:ln w="12700">
            <a:solidFill>
              <a:schemeClr val="bg2"/>
            </a:solidFill>
            <a:prstDash val="solid"/>
          </a:ln>
        </p:spPr>
      </p:sp>
      <p:sp>
        <p:nvSpPr>
          <p:cNvPr id="14" name="Step badge 3"/>
          <p:cNvSpPr/>
          <p:nvPr/>
        </p:nvSpPr>
        <p:spPr>
          <a:xfrm>
            <a:off x="4800600" y="1234440"/>
            <a:ext cx="457200" cy="457200"/>
          </a:xfrm>
          <a:prstGeom prst="ellipse">
            <a:avLst/>
          </a:prstGeom>
          <a:solidFill>
            <a:schemeClr val="accent1"/>
          </a:solidFill>
          <a:ln w="12700">
            <a:solidFill>
              <a:schemeClr val="accent1"/>
            </a:solidFill>
            <a:prstDash val="solid"/>
          </a:ln>
        </p:spPr>
      </p:sp>
      <p:sp>
        <p:nvSpPr>
          <p:cNvPr id="15" name="Text 13"/>
          <p:cNvSpPr txBox="1"/>
          <p:nvPr/>
        </p:nvSpPr>
        <p:spPr>
          <a:xfrm>
            <a:off x="4800600" y="12344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Text 14"/>
          <p:cNvSpPr txBox="1"/>
          <p:nvPr/>
        </p:nvSpPr>
        <p:spPr>
          <a:xfrm>
            <a:off x="4800600" y="1783080"/>
            <a:ext cx="1645920" cy="320040"/>
          </a:xfrm>
          <a:prstGeom prst="rect">
            <a:avLst/>
          </a:prstGeom>
          <a:noFill/>
          <a:ln/>
        </p:spPr>
        <p:txBody>
          <a:bodyPr wrap="square" lIns="0" tIns="0" rIns="0" bIns="0" rtlCol="0" anchor="ctr"/>
          <a:lstStyle/>
          <a:p>
            <a:pPr indent="0" marL="0">
              <a:buNone/>
            </a:pPr>
            <a:r>
              <a:rPr lang="en-US" sz="1800" b="1" dirty="0">
                <a:solidFill>
                  <a:schemeClr val="tx2"/>
                </a:solidFill>
              </a:rPr>
              <a:t>Transform</a:t>
            </a:r>
            <a:endParaRPr lang="en-US" sz="1800" dirty="0"/>
          </a:p>
        </p:txBody>
      </p:sp>
      <p:sp>
        <p:nvSpPr>
          <p:cNvPr id="17" name="Text 15"/>
          <p:cNvSpPr txBox="1"/>
          <p:nvPr/>
        </p:nvSpPr>
        <p:spPr>
          <a:xfrm>
            <a:off x="4800600" y="2148840"/>
            <a:ext cx="1645920" cy="960120"/>
          </a:xfrm>
          <a:prstGeom prst="rect">
            <a:avLst/>
          </a:prstGeom>
          <a:noFill/>
          <a:ln/>
        </p:spPr>
        <p:txBody>
          <a:bodyPr wrap="square" lIns="0" tIns="0" rIns="0" bIns="0" rtlCol="0" anchor="t"/>
          <a:lstStyle/>
          <a:p>
            <a:pPr indent="0" marL="0">
              <a:buNone/>
            </a:pPr>
            <a:r>
              <a:rPr lang="en-US" sz="1400" dirty="0">
                <a:solidFill>
                  <a:schemeClr val="tx1"/>
                </a:solidFill>
              </a:rPr>
              <a:t>Add Variance, Variance % and Budget Status columns</a:t>
            </a:r>
            <a:endParaRPr lang="en-US" sz="1400" dirty="0"/>
          </a:p>
        </p:txBody>
      </p:sp>
      <p:sp>
        <p:nvSpPr>
          <p:cNvPr id="18" name="Step card 4"/>
          <p:cNvSpPr/>
          <p:nvPr/>
        </p:nvSpPr>
        <p:spPr>
          <a:xfrm>
            <a:off x="6766560" y="1097280"/>
            <a:ext cx="1920240" cy="2103120"/>
          </a:xfrm>
          <a:prstGeom prst="roundRect">
            <a:avLst>
              <a:gd name="adj" fmla="val 4762"/>
            </a:avLst>
          </a:prstGeom>
          <a:solidFill>
            <a:schemeClr val="bg2"/>
          </a:solidFill>
          <a:ln w="12700">
            <a:solidFill>
              <a:schemeClr val="bg2"/>
            </a:solidFill>
            <a:prstDash val="solid"/>
          </a:ln>
        </p:spPr>
      </p:sp>
      <p:sp>
        <p:nvSpPr>
          <p:cNvPr id="19" name="Step badge 4"/>
          <p:cNvSpPr/>
          <p:nvPr/>
        </p:nvSpPr>
        <p:spPr>
          <a:xfrm>
            <a:off x="6903720" y="1234440"/>
            <a:ext cx="457200" cy="457200"/>
          </a:xfrm>
          <a:prstGeom prst="ellipse">
            <a:avLst/>
          </a:prstGeom>
          <a:solidFill>
            <a:schemeClr val="accent1"/>
          </a:solidFill>
          <a:ln w="12700">
            <a:solidFill>
              <a:schemeClr val="accent1"/>
            </a:solidFill>
            <a:prstDash val="solid"/>
          </a:ln>
        </p:spPr>
      </p:sp>
      <p:sp>
        <p:nvSpPr>
          <p:cNvPr id="20" name="Text 18"/>
          <p:cNvSpPr txBox="1"/>
          <p:nvPr/>
        </p:nvSpPr>
        <p:spPr>
          <a:xfrm>
            <a:off x="6903720" y="12344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1" name="Text 19"/>
          <p:cNvSpPr txBox="1"/>
          <p:nvPr/>
        </p:nvSpPr>
        <p:spPr>
          <a:xfrm>
            <a:off x="6903720" y="1783080"/>
            <a:ext cx="1645920" cy="320040"/>
          </a:xfrm>
          <a:prstGeom prst="rect">
            <a:avLst/>
          </a:prstGeom>
          <a:noFill/>
          <a:ln/>
        </p:spPr>
        <p:txBody>
          <a:bodyPr wrap="square" lIns="0" tIns="0" rIns="0" bIns="0" rtlCol="0" anchor="ctr"/>
          <a:lstStyle/>
          <a:p>
            <a:pPr indent="0" marL="0">
              <a:buNone/>
            </a:pPr>
            <a:r>
              <a:rPr lang="en-US" sz="1800" b="1" dirty="0">
                <a:solidFill>
                  <a:schemeClr val="tx2"/>
                </a:solidFill>
              </a:rPr>
              <a:t>Dashboard</a:t>
            </a:r>
            <a:endParaRPr lang="en-US" sz="1800" dirty="0"/>
          </a:p>
        </p:txBody>
      </p:sp>
      <p:sp>
        <p:nvSpPr>
          <p:cNvPr id="22" name="Text 20"/>
          <p:cNvSpPr txBox="1"/>
          <p:nvPr/>
        </p:nvSpPr>
        <p:spPr>
          <a:xfrm>
            <a:off x="6903720" y="2148840"/>
            <a:ext cx="1645920" cy="960120"/>
          </a:xfrm>
          <a:prstGeom prst="rect">
            <a:avLst/>
          </a:prstGeom>
          <a:noFill/>
          <a:ln/>
        </p:spPr>
        <p:txBody>
          <a:bodyPr wrap="square" lIns="0" tIns="0" rIns="0" bIns="0" rtlCol="0" anchor="t"/>
          <a:lstStyle/>
          <a:p>
            <a:pPr indent="0" marL="0">
              <a:buNone/>
            </a:pPr>
            <a:r>
              <a:rPr lang="en-US" sz="1400" dirty="0">
                <a:solidFill>
                  <a:schemeClr val="tx1"/>
                </a:solidFill>
              </a:rPr>
              <a:t>PivotTables, charts and slicers in Microsoft Excel</a:t>
            </a:r>
            <a:endParaRPr lang="en-US" sz="1400" dirty="0"/>
          </a:p>
        </p:txBody>
      </p:sp>
      <p:sp>
        <p:nvSpPr>
          <p:cNvPr id="23" name="Formula panel"/>
          <p:cNvSpPr/>
          <p:nvPr/>
        </p:nvSpPr>
        <p:spPr>
          <a:xfrm>
            <a:off x="457200" y="3474720"/>
            <a:ext cx="8229600" cy="1188720"/>
          </a:xfrm>
          <a:prstGeom prst="roundRect">
            <a:avLst>
              <a:gd name="adj" fmla="val 7692"/>
            </a:avLst>
          </a:prstGeom>
          <a:solidFill>
            <a:schemeClr val="tx2"/>
          </a:solidFill>
          <a:ln w="12700">
            <a:solidFill>
              <a:schemeClr val="tx2"/>
            </a:solidFill>
            <a:prstDash val="solid"/>
          </a:ln>
        </p:spPr>
      </p:sp>
      <p:sp>
        <p:nvSpPr>
          <p:cNvPr id="24" name="Text 22"/>
          <p:cNvSpPr txBox="1"/>
          <p:nvPr/>
        </p:nvSpPr>
        <p:spPr>
          <a:xfrm>
            <a:off x="685800" y="3566160"/>
            <a:ext cx="2743200" cy="320040"/>
          </a:xfrm>
          <a:prstGeom prst="rect">
            <a:avLst/>
          </a:prstGeom>
          <a:noFill/>
          <a:ln/>
        </p:spPr>
        <p:txBody>
          <a:bodyPr wrap="square" lIns="0" tIns="0" rIns="0" bIns="0" rtlCol="0" anchor="ctr"/>
          <a:lstStyle/>
          <a:p>
            <a:pPr indent="0" marL="0">
              <a:buNone/>
            </a:pPr>
            <a:r>
              <a:rPr lang="en-US" sz="1400" b="1" dirty="0">
                <a:solidFill>
                  <a:schemeClr val="accent2"/>
                </a:solidFill>
              </a:rPr>
              <a:t>Key formulas</a:t>
            </a:r>
            <a:endParaRPr lang="en-US" sz="1400" dirty="0"/>
          </a:p>
        </p:txBody>
      </p:sp>
      <p:sp>
        <p:nvSpPr>
          <p:cNvPr id="25" name="Text 23"/>
          <p:cNvSpPr txBox="1"/>
          <p:nvPr/>
        </p:nvSpPr>
        <p:spPr>
          <a:xfrm>
            <a:off x="685800" y="3886200"/>
            <a:ext cx="7772400" cy="731520"/>
          </a:xfrm>
          <a:prstGeom prst="rect">
            <a:avLst/>
          </a:prstGeom>
          <a:noFill/>
          <a:ln/>
        </p:spPr>
        <p:txBody>
          <a:bodyPr wrap="square" lIns="0" tIns="0" rIns="0" bIns="0" rtlCol="0" anchor="t"/>
          <a:lstStyle/>
          <a:p>
            <a:pPr indent="0" marL="0">
              <a:buNone/>
            </a:pPr>
            <a:r>
              <a:rPr lang="en-US" sz="1400" dirty="0">
                <a:solidFill>
                  <a:schemeClr val="bg1"/>
                </a:solidFill>
              </a:rPr>
              <a:t>Variance = Actual Spend − Budgeted Amount</a:t>
            </a:r>
            <a:endParaRPr lang="en-US" sz="1400" dirty="0"/>
          </a:p>
          <a:p>
            <a:pPr indent="0" marL="0">
              <a:buNone/>
            </a:pPr>
            <a:r>
              <a:rPr lang="en-US" sz="1400" dirty="0">
                <a:solidFill>
                  <a:schemeClr val="bg1"/>
                </a:solidFill>
              </a:rPr>
              <a:t>Variance % = (Variance ÷ Budgeted Amount) × 100</a:t>
            </a:r>
            <a:endParaRPr lang="en-US" sz="1400" dirty="0"/>
          </a:p>
          <a:p>
            <a:pPr indent="0" marL="0">
              <a:buNone/>
            </a:pPr>
            <a:r>
              <a:rPr lang="en-US" sz="1400" dirty="0">
                <a:solidFill>
                  <a:schemeClr val="bg1"/>
                </a:solidFill>
              </a:rPr>
              <a:t>Status = Over, Under or On Budget</a:t>
            </a:r>
            <a:endParaRPr lang="en-US" sz="1400" dirty="0"/>
          </a:p>
        </p:txBody>
      </p:sp>
      <p:sp>
        <p:nvSpPr>
          <p:cNvPr id="25" name="Slide Number Placeholder 0"/>
          <p:cNvSpPr>
            <a:spLocks noGrp="1"/>
          </p:cNvSpPr>
          <p:nvPr>
            <p:ph type="sldNum" sz="quarter" idx="4294967295"/>
          </p:nvPr>
        </p:nvSpPr>
        <p:spPr>
          <a:xfrm>
            <a:off x="832104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7C80"/>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rPr>
              <a:t>Q1 &amp; Q2: Where does overspending happen?</a:t>
            </a:r>
            <a:endParaRPr lang="en-US" sz="3000" dirty="0"/>
          </a:p>
        </p:txBody>
      </p:sp>
      <p:sp>
        <p:nvSpPr>
          <p:cNvPr id="3" name="Q1 badge"/>
          <p:cNvSpPr/>
          <p:nvPr/>
        </p:nvSpPr>
        <p:spPr>
          <a:xfrm>
            <a:off x="457200" y="1005840"/>
            <a:ext cx="457200" cy="457200"/>
          </a:xfrm>
          <a:prstGeom prst="ellipse">
            <a:avLst/>
          </a:prstGeom>
          <a:solidFill>
            <a:schemeClr val="accent1"/>
          </a:solidFill>
          <a:ln w="12700">
            <a:solidFill>
              <a:schemeClr val="accent1"/>
            </a:solidFill>
            <a:prstDash val="solid"/>
          </a:ln>
        </p:spPr>
      </p:sp>
      <p:sp>
        <p:nvSpPr>
          <p:cNvPr id="4" name="Text 2"/>
          <p:cNvSpPr txBox="1"/>
          <p:nvPr/>
        </p:nvSpPr>
        <p:spPr>
          <a:xfrm>
            <a:off x="457200" y="100584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Q1</a:t>
            </a:r>
            <a:endParaRPr lang="en-US" sz="1400" dirty="0"/>
          </a:p>
        </p:txBody>
      </p:sp>
      <p:sp>
        <p:nvSpPr>
          <p:cNvPr id="5" name="Text 3"/>
          <p:cNvSpPr txBox="1"/>
          <p:nvPr/>
        </p:nvSpPr>
        <p:spPr>
          <a:xfrm>
            <a:off x="1024128" y="960120"/>
            <a:ext cx="3364992" cy="548640"/>
          </a:xfrm>
          <a:prstGeom prst="rect">
            <a:avLst/>
          </a:prstGeom>
          <a:noFill/>
          <a:ln/>
        </p:spPr>
        <p:txBody>
          <a:bodyPr wrap="square" lIns="0" tIns="0" rIns="0" bIns="0" rtlCol="0" anchor="ctr"/>
          <a:lstStyle/>
          <a:p>
            <a:pPr indent="0" marL="0">
              <a:buNone/>
            </a:pPr>
            <a:r>
              <a:rPr lang="en-US" sz="1400" b="1" dirty="0">
                <a:solidFill>
                  <a:schemeClr val="tx2"/>
                </a:solidFill>
              </a:rPr>
              <a:t>Which departments spend more than their allocated budgets?</a:t>
            </a:r>
            <a:endParaRPr lang="en-US" sz="1400" dirty="0"/>
          </a:p>
        </p:txBody>
      </p:sp>
      <p:sp>
        <p:nvSpPr>
          <p:cNvPr id="6" name="Q2 badge"/>
          <p:cNvSpPr/>
          <p:nvPr/>
        </p:nvSpPr>
        <p:spPr>
          <a:xfrm>
            <a:off x="4754880" y="1005840"/>
            <a:ext cx="457200" cy="457200"/>
          </a:xfrm>
          <a:prstGeom prst="ellipse">
            <a:avLst/>
          </a:prstGeom>
          <a:solidFill>
            <a:schemeClr val="accent1"/>
          </a:solidFill>
          <a:ln w="12700">
            <a:solidFill>
              <a:schemeClr val="accent1"/>
            </a:solidFill>
            <a:prstDash val="solid"/>
          </a:ln>
        </p:spPr>
      </p:sp>
      <p:sp>
        <p:nvSpPr>
          <p:cNvPr id="7" name="Text 5"/>
          <p:cNvSpPr txBox="1"/>
          <p:nvPr/>
        </p:nvSpPr>
        <p:spPr>
          <a:xfrm>
            <a:off x="4754880" y="100584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Q2</a:t>
            </a:r>
            <a:endParaRPr lang="en-US" sz="1400" dirty="0"/>
          </a:p>
        </p:txBody>
      </p:sp>
      <p:sp>
        <p:nvSpPr>
          <p:cNvPr id="8" name="Text 6"/>
          <p:cNvSpPr txBox="1"/>
          <p:nvPr/>
        </p:nvSpPr>
        <p:spPr>
          <a:xfrm>
            <a:off x="5321808" y="960120"/>
            <a:ext cx="3364992" cy="548640"/>
          </a:xfrm>
          <a:prstGeom prst="rect">
            <a:avLst/>
          </a:prstGeom>
          <a:noFill/>
          <a:ln/>
        </p:spPr>
        <p:txBody>
          <a:bodyPr wrap="square" lIns="0" tIns="0" rIns="0" bIns="0" rtlCol="0" anchor="ctr"/>
          <a:lstStyle/>
          <a:p>
            <a:pPr indent="0" marL="0">
              <a:buNone/>
            </a:pPr>
            <a:r>
              <a:rPr lang="en-US" sz="1400" b="1" dirty="0">
                <a:solidFill>
                  <a:schemeClr val="tx2"/>
                </a:solidFill>
              </a:rPr>
              <a:t>Which expense categories contribute most to overspending?</a:t>
            </a:r>
            <a:endParaRPr lang="en-US" sz="1400" dirty="0"/>
          </a:p>
        </p:txBody>
      </p:sp>
      <p:sp>
        <p:nvSpPr>
          <p:cNvPr id="9" name="Text 7"/>
          <p:cNvSpPr txBox="1"/>
          <p:nvPr/>
        </p:nvSpPr>
        <p:spPr>
          <a:xfrm>
            <a:off x="457200" y="1554480"/>
            <a:ext cx="3931920" cy="228600"/>
          </a:xfrm>
          <a:prstGeom prst="rect">
            <a:avLst/>
          </a:prstGeom>
          <a:noFill/>
          <a:ln/>
        </p:spPr>
        <p:txBody>
          <a:bodyPr wrap="square" lIns="0" tIns="0" rIns="0" bIns="0" rtlCol="0" anchor="ctr"/>
          <a:lstStyle/>
          <a:p>
            <a:pPr indent="0" marL="0">
              <a:buNone/>
            </a:pPr>
            <a:r>
              <a:rPr lang="en-US" sz="1000" dirty="0">
                <a:solidFill>
                  <a:schemeClr val="accent5"/>
                </a:solidFill>
              </a:rPr>
              <a:t>Variance in thousands (Actual − Budget)</a:t>
            </a:r>
            <a:endParaRPr lang="en-US" sz="1000" dirty="0"/>
          </a:p>
        </p:txBody>
      </p:sp>
      <p:sp>
        <p:nvSpPr>
          <p:cNvPr id="10" name="Text 8"/>
          <p:cNvSpPr txBox="1"/>
          <p:nvPr/>
        </p:nvSpPr>
        <p:spPr>
          <a:xfrm>
            <a:off x="4754880" y="1554480"/>
            <a:ext cx="3931920" cy="228600"/>
          </a:xfrm>
          <a:prstGeom prst="rect">
            <a:avLst/>
          </a:prstGeom>
          <a:noFill/>
          <a:ln/>
        </p:spPr>
        <p:txBody>
          <a:bodyPr wrap="square" lIns="0" tIns="0" rIns="0" bIns="0" rtlCol="0" anchor="ctr"/>
          <a:lstStyle/>
          <a:p>
            <a:pPr indent="0" marL="0">
              <a:buNone/>
            </a:pPr>
            <a:r>
              <a:rPr lang="en-US" sz="1000" dirty="0">
                <a:solidFill>
                  <a:schemeClr val="accent5"/>
                </a:solidFill>
              </a:rPr>
              <a:t>Variance in thousands (Actual − Budget)</a:t>
            </a:r>
            <a:endParaRPr lang="en-US" sz="1000" dirty="0"/>
          </a:p>
        </p:txBody>
      </p:sp>
      <p:graphicFrame>
        <p:nvGraphicFramePr>
          <p:cNvPr id="11" name="Chart 0" descr=""/>
          <p:cNvGraphicFramePr/>
          <p:nvPr/>
        </p:nvGraphicFramePr>
        <p:xfrm>
          <a:off x="457200" y="1783080"/>
          <a:ext cx="3931920" cy="1920240"/>
        </p:xfrm>
        <a:graphic xmlns:a="http://schemas.openxmlformats.org/drawingml/2006/main">
          <a:graphicData uri="http://schemas.openxmlformats.org/drawingml/2006/chart">
            <c:chart xmlns:c="http://schemas.openxmlformats.org/drawingml/2006/chart" r:id="rId1"/>
          </a:graphicData>
        </a:graphic>
      </p:graphicFrame>
      <p:graphicFrame>
        <p:nvGraphicFramePr>
          <p:cNvPr id="12" name="Chart 1" descr=""/>
          <p:cNvGraphicFramePr/>
          <p:nvPr/>
        </p:nvGraphicFramePr>
        <p:xfrm>
          <a:off x="4754880" y="1783080"/>
          <a:ext cx="3931920" cy="1920240"/>
        </p:xfrm>
        <a:graphic xmlns:a="http://schemas.openxmlformats.org/drawingml/2006/main">
          <a:graphicData uri="http://schemas.openxmlformats.org/drawingml/2006/chart">
            <c:chart xmlns:c="http://schemas.openxmlformats.org/drawingml/2006/chart" r:id="rId2"/>
          </a:graphicData>
        </a:graphic>
      </p:graphicFrame>
      <p:sp>
        <p:nvSpPr>
          <p:cNvPr id="13" name="Text 9"/>
          <p:cNvSpPr txBox="1"/>
          <p:nvPr/>
        </p:nvSpPr>
        <p:spPr>
          <a:xfrm>
            <a:off x="457200" y="3794760"/>
            <a:ext cx="3931920" cy="914400"/>
          </a:xfrm>
          <a:prstGeom prst="rect">
            <a:avLst/>
          </a:prstGeom>
          <a:noFill/>
          <a:ln/>
        </p:spPr>
        <p:txBody>
          <a:bodyPr wrap="square" lIns="0" tIns="0" rIns="0" bIns="0" rtlCol="0" anchor="t"/>
          <a:lstStyle/>
          <a:p>
            <a:pPr indent="0" marL="0">
              <a:buNone/>
            </a:pPr>
            <a:r>
              <a:rPr lang="en-US" sz="1400" dirty="0">
                <a:solidFill>
                  <a:schemeClr val="tx1"/>
                </a:solidFill>
              </a:rPr>
              <a:t>Sales, HR, Logistics, Operations and Finance overspend. Administration and IT stay under budget.</a:t>
            </a:r>
            <a:endParaRPr lang="en-US" sz="1400" dirty="0"/>
          </a:p>
        </p:txBody>
      </p:sp>
      <p:sp>
        <p:nvSpPr>
          <p:cNvPr id="14" name="Text 10"/>
          <p:cNvSpPr txBox="1"/>
          <p:nvPr/>
        </p:nvSpPr>
        <p:spPr>
          <a:xfrm>
            <a:off x="4754880" y="3794760"/>
            <a:ext cx="3931920" cy="914400"/>
          </a:xfrm>
          <a:prstGeom prst="rect">
            <a:avLst/>
          </a:prstGeom>
          <a:noFill/>
          <a:ln/>
        </p:spPr>
        <p:txBody>
          <a:bodyPr wrap="square" lIns="0" tIns="0" rIns="0" bIns="0" rtlCol="0" anchor="t"/>
          <a:lstStyle/>
          <a:p>
            <a:pPr indent="0" marL="0">
              <a:buNone/>
            </a:pPr>
            <a:r>
              <a:rPr lang="en-US" sz="1400" dirty="0">
                <a:solidFill>
                  <a:schemeClr val="tx1"/>
                </a:solidFill>
              </a:rPr>
              <a:t>Software &amp; IT leads (+173K). Marketing and Equipment are under budget, so they may be over-budgeted.</a:t>
            </a:r>
            <a:endParaRPr lang="en-US" sz="1400" dirty="0"/>
          </a:p>
        </p:txBody>
      </p:sp>
      <p:sp>
        <p:nvSpPr>
          <p:cNvPr id="25" name="Slide Number Placeholder 0"/>
          <p:cNvSpPr>
            <a:spLocks noGrp="1"/>
          </p:cNvSpPr>
          <p:nvPr>
            <p:ph type="sldNum" sz="quarter" idx="4294967295"/>
          </p:nvPr>
        </p:nvSpPr>
        <p:spPr>
          <a:xfrm>
            <a:off x="832104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7C80"/>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rPr>
              <a:t>Q3 &amp; Q4: The overall gap and monthly trend</a:t>
            </a:r>
            <a:endParaRPr lang="en-US" sz="3000" dirty="0"/>
          </a:p>
        </p:txBody>
      </p:sp>
      <p:sp>
        <p:nvSpPr>
          <p:cNvPr id="3" name="Q3 badge"/>
          <p:cNvSpPr/>
          <p:nvPr/>
        </p:nvSpPr>
        <p:spPr>
          <a:xfrm>
            <a:off x="457200" y="1005840"/>
            <a:ext cx="457200" cy="457200"/>
          </a:xfrm>
          <a:prstGeom prst="ellipse">
            <a:avLst/>
          </a:prstGeom>
          <a:solidFill>
            <a:schemeClr val="accent1"/>
          </a:solidFill>
          <a:ln w="12700">
            <a:solidFill>
              <a:schemeClr val="accent1"/>
            </a:solidFill>
            <a:prstDash val="solid"/>
          </a:ln>
        </p:spPr>
      </p:sp>
      <p:sp>
        <p:nvSpPr>
          <p:cNvPr id="4" name="Text 2"/>
          <p:cNvSpPr txBox="1"/>
          <p:nvPr/>
        </p:nvSpPr>
        <p:spPr>
          <a:xfrm>
            <a:off x="457200" y="100584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Q3</a:t>
            </a:r>
            <a:endParaRPr lang="en-US" sz="1400" dirty="0"/>
          </a:p>
        </p:txBody>
      </p:sp>
      <p:sp>
        <p:nvSpPr>
          <p:cNvPr id="5" name="Text 3"/>
          <p:cNvSpPr txBox="1"/>
          <p:nvPr/>
        </p:nvSpPr>
        <p:spPr>
          <a:xfrm>
            <a:off x="1024128" y="960120"/>
            <a:ext cx="2816352" cy="548640"/>
          </a:xfrm>
          <a:prstGeom prst="rect">
            <a:avLst/>
          </a:prstGeom>
          <a:noFill/>
          <a:ln/>
        </p:spPr>
        <p:txBody>
          <a:bodyPr wrap="square" lIns="0" tIns="0" rIns="0" bIns="0" rtlCol="0" anchor="ctr"/>
          <a:lstStyle/>
          <a:p>
            <a:pPr indent="0" marL="0">
              <a:buNone/>
            </a:pPr>
            <a:r>
              <a:rPr lang="en-US" sz="1400" b="1" dirty="0">
                <a:solidFill>
                  <a:schemeClr val="tx2"/>
                </a:solidFill>
              </a:rPr>
              <a:t>What is the gap between budget and actual spend?</a:t>
            </a:r>
            <a:endParaRPr lang="en-US" sz="1400" dirty="0"/>
          </a:p>
        </p:txBody>
      </p:sp>
      <p:sp>
        <p:nvSpPr>
          <p:cNvPr id="6" name="Gap card 1"/>
          <p:cNvSpPr/>
          <p:nvPr/>
        </p:nvSpPr>
        <p:spPr>
          <a:xfrm>
            <a:off x="457200" y="1645920"/>
            <a:ext cx="3383280" cy="1188720"/>
          </a:xfrm>
          <a:prstGeom prst="roundRect">
            <a:avLst>
              <a:gd name="adj" fmla="val 7692"/>
            </a:avLst>
          </a:prstGeom>
          <a:solidFill>
            <a:schemeClr val="bg2"/>
          </a:solidFill>
          <a:ln w="12700">
            <a:solidFill>
              <a:schemeClr val="bg2"/>
            </a:solidFill>
            <a:prstDash val="solid"/>
          </a:ln>
        </p:spPr>
      </p:sp>
      <p:sp>
        <p:nvSpPr>
          <p:cNvPr id="7" name="Text 5"/>
          <p:cNvSpPr txBox="1"/>
          <p:nvPr/>
        </p:nvSpPr>
        <p:spPr>
          <a:xfrm>
            <a:off x="640080" y="1719072"/>
            <a:ext cx="3017520" cy="502920"/>
          </a:xfrm>
          <a:prstGeom prst="rect">
            <a:avLst/>
          </a:prstGeom>
          <a:noFill/>
          <a:ln/>
        </p:spPr>
        <p:txBody>
          <a:bodyPr wrap="square" lIns="0" tIns="0" rIns="0" bIns="0" rtlCol="0" anchor="ctr"/>
          <a:lstStyle/>
          <a:p>
            <a:pPr indent="0" marL="0">
              <a:buNone/>
            </a:pPr>
            <a:r>
              <a:rPr lang="en-US" sz="2800" b="1" dirty="0">
                <a:solidFill>
                  <a:schemeClr val="accent3"/>
                </a:solidFill>
              </a:rPr>
              <a:t>+267,620</a:t>
            </a:r>
            <a:endParaRPr lang="en-US" sz="2800" dirty="0"/>
          </a:p>
        </p:txBody>
      </p:sp>
      <p:sp>
        <p:nvSpPr>
          <p:cNvPr id="8" name="Text 6"/>
          <p:cNvSpPr txBox="1"/>
          <p:nvPr/>
        </p:nvSpPr>
        <p:spPr>
          <a:xfrm>
            <a:off x="640080" y="2249424"/>
            <a:ext cx="3017520" cy="530352"/>
          </a:xfrm>
          <a:prstGeom prst="rect">
            <a:avLst/>
          </a:prstGeom>
          <a:noFill/>
          <a:ln/>
        </p:spPr>
        <p:txBody>
          <a:bodyPr wrap="square" lIns="0" tIns="0" rIns="0" bIns="0" rtlCol="0" anchor="t"/>
          <a:lstStyle/>
          <a:p>
            <a:pPr indent="0" marL="0">
              <a:buNone/>
            </a:pPr>
            <a:r>
              <a:rPr lang="en-US" sz="1400" dirty="0">
                <a:solidFill>
                  <a:schemeClr val="tx1"/>
                </a:solidFill>
              </a:rPr>
              <a:t>Total variance: Actual 42.13M vs Budget 41.86M (+0.64%)</a:t>
            </a:r>
            <a:endParaRPr lang="en-US" sz="1400" dirty="0"/>
          </a:p>
        </p:txBody>
      </p:sp>
      <p:sp>
        <p:nvSpPr>
          <p:cNvPr id="9" name="Gap card 2"/>
          <p:cNvSpPr/>
          <p:nvPr/>
        </p:nvSpPr>
        <p:spPr>
          <a:xfrm>
            <a:off x="457200" y="2971800"/>
            <a:ext cx="3383280" cy="1188720"/>
          </a:xfrm>
          <a:prstGeom prst="roundRect">
            <a:avLst>
              <a:gd name="adj" fmla="val 7692"/>
            </a:avLst>
          </a:prstGeom>
          <a:solidFill>
            <a:schemeClr val="bg2"/>
          </a:solidFill>
          <a:ln w="12700">
            <a:solidFill>
              <a:schemeClr val="bg2"/>
            </a:solidFill>
            <a:prstDash val="solid"/>
          </a:ln>
        </p:spPr>
      </p:sp>
      <p:sp>
        <p:nvSpPr>
          <p:cNvPr id="10" name="Text 8"/>
          <p:cNvSpPr txBox="1"/>
          <p:nvPr/>
        </p:nvSpPr>
        <p:spPr>
          <a:xfrm>
            <a:off x="640080" y="3044952"/>
            <a:ext cx="3017520" cy="502920"/>
          </a:xfrm>
          <a:prstGeom prst="rect">
            <a:avLst/>
          </a:prstGeom>
          <a:noFill/>
          <a:ln/>
        </p:spPr>
        <p:txBody>
          <a:bodyPr wrap="square" lIns="0" tIns="0" rIns="0" bIns="0" rtlCol="0" anchor="ctr"/>
          <a:lstStyle/>
          <a:p>
            <a:pPr indent="0" marL="0">
              <a:buNone/>
            </a:pPr>
            <a:r>
              <a:rPr lang="en-US" sz="2800" b="1" dirty="0">
                <a:solidFill>
                  <a:schemeClr val="accent3"/>
                </a:solidFill>
              </a:rPr>
              <a:t>903 of 2,000</a:t>
            </a:r>
            <a:endParaRPr lang="en-US" sz="2800" dirty="0"/>
          </a:p>
        </p:txBody>
      </p:sp>
      <p:sp>
        <p:nvSpPr>
          <p:cNvPr id="11" name="Text 9"/>
          <p:cNvSpPr txBox="1"/>
          <p:nvPr/>
        </p:nvSpPr>
        <p:spPr>
          <a:xfrm>
            <a:off x="640080" y="3575304"/>
            <a:ext cx="3017520" cy="530352"/>
          </a:xfrm>
          <a:prstGeom prst="rect">
            <a:avLst/>
          </a:prstGeom>
          <a:noFill/>
          <a:ln/>
        </p:spPr>
        <p:txBody>
          <a:bodyPr wrap="square" lIns="0" tIns="0" rIns="0" bIns="0" rtlCol="0" anchor="t"/>
          <a:lstStyle/>
          <a:p>
            <a:pPr indent="0" marL="0">
              <a:buNone/>
            </a:pPr>
            <a:r>
              <a:rPr lang="en-US" sz="1400" dirty="0">
                <a:solidFill>
                  <a:schemeClr val="tx1"/>
                </a:solidFill>
              </a:rPr>
              <a:t>records are over budget (45%)</a:t>
            </a:r>
            <a:endParaRPr lang="en-US" sz="1400" dirty="0"/>
          </a:p>
        </p:txBody>
      </p:sp>
      <p:sp>
        <p:nvSpPr>
          <p:cNvPr id="12" name="Text 10"/>
          <p:cNvSpPr txBox="1"/>
          <p:nvPr/>
        </p:nvSpPr>
        <p:spPr>
          <a:xfrm>
            <a:off x="457200" y="4343400"/>
            <a:ext cx="3383280" cy="411480"/>
          </a:xfrm>
          <a:prstGeom prst="rect">
            <a:avLst/>
          </a:prstGeom>
          <a:noFill/>
          <a:ln/>
        </p:spPr>
        <p:txBody>
          <a:bodyPr wrap="square" lIns="0" tIns="0" rIns="0" bIns="0" rtlCol="0" anchor="t"/>
          <a:lstStyle/>
          <a:p>
            <a:pPr indent="0" marL="0">
              <a:buNone/>
            </a:pPr>
            <a:r>
              <a:rPr lang="en-US" sz="1400" dirty="0">
                <a:solidFill>
                  <a:schemeClr val="tx1"/>
                </a:solidFill>
              </a:rPr>
              <a:t>Under budget: 814 records. On budget: 283 records.</a:t>
            </a:r>
            <a:endParaRPr lang="en-US" sz="1400" dirty="0"/>
          </a:p>
        </p:txBody>
      </p:sp>
      <p:sp>
        <p:nvSpPr>
          <p:cNvPr id="13" name="Q4 badge"/>
          <p:cNvSpPr/>
          <p:nvPr/>
        </p:nvSpPr>
        <p:spPr>
          <a:xfrm>
            <a:off x="4206240" y="1005840"/>
            <a:ext cx="457200" cy="457200"/>
          </a:xfrm>
          <a:prstGeom prst="ellipse">
            <a:avLst/>
          </a:prstGeom>
          <a:solidFill>
            <a:schemeClr val="accent1"/>
          </a:solidFill>
          <a:ln w="12700">
            <a:solidFill>
              <a:schemeClr val="accent1"/>
            </a:solidFill>
            <a:prstDash val="solid"/>
          </a:ln>
        </p:spPr>
      </p:sp>
      <p:sp>
        <p:nvSpPr>
          <p:cNvPr id="14" name="Text 12"/>
          <p:cNvSpPr txBox="1"/>
          <p:nvPr/>
        </p:nvSpPr>
        <p:spPr>
          <a:xfrm>
            <a:off x="4206240" y="100584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Q4</a:t>
            </a:r>
            <a:endParaRPr lang="en-US" sz="1400" dirty="0"/>
          </a:p>
        </p:txBody>
      </p:sp>
      <p:sp>
        <p:nvSpPr>
          <p:cNvPr id="15" name="Text 13"/>
          <p:cNvSpPr txBox="1"/>
          <p:nvPr/>
        </p:nvSpPr>
        <p:spPr>
          <a:xfrm>
            <a:off x="4773168" y="960120"/>
            <a:ext cx="3913632" cy="548640"/>
          </a:xfrm>
          <a:prstGeom prst="rect">
            <a:avLst/>
          </a:prstGeom>
          <a:noFill/>
          <a:ln/>
        </p:spPr>
        <p:txBody>
          <a:bodyPr wrap="square" lIns="0" tIns="0" rIns="0" bIns="0" rtlCol="0" anchor="ctr"/>
          <a:lstStyle/>
          <a:p>
            <a:pPr indent="0" marL="0">
              <a:buNone/>
            </a:pPr>
            <a:r>
              <a:rPr lang="en-US" sz="1400" b="1" dirty="0">
                <a:solidFill>
                  <a:schemeClr val="tx2"/>
                </a:solidFill>
              </a:rPr>
              <a:t>How does spending change from month to month?</a:t>
            </a:r>
            <a:endParaRPr lang="en-US" sz="1400" dirty="0"/>
          </a:p>
        </p:txBody>
      </p:sp>
      <p:sp>
        <p:nvSpPr>
          <p:cNvPr id="16" name="Text 14"/>
          <p:cNvSpPr txBox="1"/>
          <p:nvPr/>
        </p:nvSpPr>
        <p:spPr>
          <a:xfrm>
            <a:off x="4206240" y="1554480"/>
            <a:ext cx="4480560" cy="228600"/>
          </a:xfrm>
          <a:prstGeom prst="rect">
            <a:avLst/>
          </a:prstGeom>
          <a:noFill/>
          <a:ln/>
        </p:spPr>
        <p:txBody>
          <a:bodyPr wrap="square" lIns="0" tIns="0" rIns="0" bIns="0" rtlCol="0" anchor="ctr"/>
          <a:lstStyle/>
          <a:p>
            <a:pPr indent="0" marL="0">
              <a:buNone/>
            </a:pPr>
            <a:r>
              <a:rPr lang="en-US" sz="1000" dirty="0">
                <a:solidFill>
                  <a:schemeClr val="accent5"/>
                </a:solidFill>
              </a:rPr>
              <a:t>Monthly variance in thousands (all 3 years)</a:t>
            </a:r>
            <a:endParaRPr lang="en-US" sz="1000" dirty="0"/>
          </a:p>
        </p:txBody>
      </p:sp>
      <p:graphicFrame>
        <p:nvGraphicFramePr>
          <p:cNvPr id="17" name="Chart 0" descr=""/>
          <p:cNvGraphicFramePr/>
          <p:nvPr/>
        </p:nvGraphicFramePr>
        <p:xfrm>
          <a:off x="4206240" y="1783080"/>
          <a:ext cx="4480560" cy="2011680"/>
        </p:xfrm>
        <a:graphic xmlns:a="http://schemas.openxmlformats.org/drawingml/2006/main">
          <a:graphicData uri="http://schemas.openxmlformats.org/drawingml/2006/chart">
            <c:chart xmlns:c="http://schemas.openxmlformats.org/drawingml/2006/chart" r:id="rId1"/>
          </a:graphicData>
        </a:graphic>
      </p:graphicFrame>
      <p:sp>
        <p:nvSpPr>
          <p:cNvPr id="18" name="Text 15"/>
          <p:cNvSpPr txBox="1"/>
          <p:nvPr/>
        </p:nvSpPr>
        <p:spPr>
          <a:xfrm>
            <a:off x="4206240" y="3840480"/>
            <a:ext cx="4480560" cy="914400"/>
          </a:xfrm>
          <a:prstGeom prst="rect">
            <a:avLst/>
          </a:prstGeom>
          <a:noFill/>
          <a:ln/>
        </p:spPr>
        <p:txBody>
          <a:bodyPr wrap="square" lIns="0" tIns="0" rIns="0" bIns="0" rtlCol="0" anchor="t"/>
          <a:lstStyle/>
          <a:p>
            <a:pPr indent="0" marL="0">
              <a:buNone/>
            </a:pPr>
            <a:r>
              <a:rPr lang="en-US" sz="1400" dirty="0">
                <a:solidFill>
                  <a:schemeClr val="tx1"/>
                </a:solidFill>
              </a:rPr>
              <a:t>January leaks the most (+127K). Mar, Jul, Sep and Oct stay under budget. Yearly overspend: 2024 +72K, 2025 +69K, 2026 +126K.</a:t>
            </a:r>
            <a:endParaRPr lang="en-US" sz="1400" dirty="0"/>
          </a:p>
        </p:txBody>
      </p:sp>
      <p:sp>
        <p:nvSpPr>
          <p:cNvPr id="25" name="Slide Number Placeholder 0"/>
          <p:cNvSpPr>
            <a:spLocks noGrp="1"/>
          </p:cNvSpPr>
          <p:nvPr>
            <p:ph type="sldNum" sz="quarter" idx="4294967295"/>
          </p:nvPr>
        </p:nvSpPr>
        <p:spPr>
          <a:xfrm>
            <a:off x="832104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7C80"/>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rPr>
              <a:t>Q5 &amp; Q6: What to watch and how to cut leakage</a:t>
            </a:r>
            <a:endParaRPr lang="en-US" sz="3000" dirty="0"/>
          </a:p>
        </p:txBody>
      </p:sp>
      <p:sp>
        <p:nvSpPr>
          <p:cNvPr id="3" name="Q5 badge"/>
          <p:cNvSpPr/>
          <p:nvPr/>
        </p:nvSpPr>
        <p:spPr>
          <a:xfrm>
            <a:off x="457200" y="1005840"/>
            <a:ext cx="457200" cy="457200"/>
          </a:xfrm>
          <a:prstGeom prst="ellipse">
            <a:avLst/>
          </a:prstGeom>
          <a:solidFill>
            <a:schemeClr val="accent1"/>
          </a:solidFill>
          <a:ln w="12700">
            <a:solidFill>
              <a:schemeClr val="accent1"/>
            </a:solidFill>
            <a:prstDash val="solid"/>
          </a:ln>
        </p:spPr>
      </p:sp>
      <p:sp>
        <p:nvSpPr>
          <p:cNvPr id="4" name="Text 2"/>
          <p:cNvSpPr txBox="1"/>
          <p:nvPr/>
        </p:nvSpPr>
        <p:spPr>
          <a:xfrm>
            <a:off x="457200" y="100584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Q5</a:t>
            </a:r>
            <a:endParaRPr lang="en-US" sz="1400" dirty="0"/>
          </a:p>
        </p:txBody>
      </p:sp>
      <p:sp>
        <p:nvSpPr>
          <p:cNvPr id="5" name="Text 3"/>
          <p:cNvSpPr txBox="1"/>
          <p:nvPr/>
        </p:nvSpPr>
        <p:spPr>
          <a:xfrm>
            <a:off x="1024128" y="960120"/>
            <a:ext cx="3364992" cy="548640"/>
          </a:xfrm>
          <a:prstGeom prst="rect">
            <a:avLst/>
          </a:prstGeom>
          <a:noFill/>
          <a:ln/>
        </p:spPr>
        <p:txBody>
          <a:bodyPr wrap="square" lIns="0" tIns="0" rIns="0" bIns="0" rtlCol="0" anchor="ctr"/>
          <a:lstStyle/>
          <a:p>
            <a:pPr indent="0" marL="0">
              <a:buNone/>
            </a:pPr>
            <a:r>
              <a:rPr lang="en-US" sz="1400" b="1" dirty="0">
                <a:solidFill>
                  <a:schemeClr val="tx2"/>
                </a:solidFill>
              </a:rPr>
              <a:t>Which departments or categories need closer monitoring?</a:t>
            </a:r>
            <a:endParaRPr lang="en-US" sz="1400" dirty="0"/>
          </a:p>
        </p:txBody>
      </p:sp>
      <p:sp>
        <p:nvSpPr>
          <p:cNvPr id="6" name="Q6 badge"/>
          <p:cNvSpPr/>
          <p:nvPr/>
        </p:nvSpPr>
        <p:spPr>
          <a:xfrm>
            <a:off x="4754880" y="1005840"/>
            <a:ext cx="457200" cy="457200"/>
          </a:xfrm>
          <a:prstGeom prst="ellipse">
            <a:avLst/>
          </a:prstGeom>
          <a:solidFill>
            <a:schemeClr val="accent1"/>
          </a:solidFill>
          <a:ln w="12700">
            <a:solidFill>
              <a:schemeClr val="accent1"/>
            </a:solidFill>
            <a:prstDash val="solid"/>
          </a:ln>
        </p:spPr>
      </p:sp>
      <p:sp>
        <p:nvSpPr>
          <p:cNvPr id="7" name="Text 5"/>
          <p:cNvSpPr txBox="1"/>
          <p:nvPr/>
        </p:nvSpPr>
        <p:spPr>
          <a:xfrm>
            <a:off x="4754880" y="100584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Q6</a:t>
            </a:r>
            <a:endParaRPr lang="en-US" sz="1400" dirty="0"/>
          </a:p>
        </p:txBody>
      </p:sp>
      <p:sp>
        <p:nvSpPr>
          <p:cNvPr id="8" name="Text 6"/>
          <p:cNvSpPr txBox="1"/>
          <p:nvPr/>
        </p:nvSpPr>
        <p:spPr>
          <a:xfrm>
            <a:off x="5321808" y="960120"/>
            <a:ext cx="3364992" cy="548640"/>
          </a:xfrm>
          <a:prstGeom prst="rect">
            <a:avLst/>
          </a:prstGeom>
          <a:noFill/>
          <a:ln/>
        </p:spPr>
        <p:txBody>
          <a:bodyPr wrap="square" lIns="0" tIns="0" rIns="0" bIns="0" rtlCol="0" anchor="ctr"/>
          <a:lstStyle/>
          <a:p>
            <a:pPr indent="0" marL="0">
              <a:buNone/>
            </a:pPr>
            <a:r>
              <a:rPr lang="en-US" sz="1400" b="1" dirty="0">
                <a:solidFill>
                  <a:schemeClr val="tx2"/>
                </a:solidFill>
              </a:rPr>
              <a:t>How can this analysis reduce unnecessary expenses?</a:t>
            </a:r>
            <a:endParaRPr lang="en-US" sz="1400" dirty="0"/>
          </a:p>
        </p:txBody>
      </p:sp>
      <p:sp>
        <p:nvSpPr>
          <p:cNvPr id="9" name="Q5 card"/>
          <p:cNvSpPr/>
          <p:nvPr/>
        </p:nvSpPr>
        <p:spPr>
          <a:xfrm>
            <a:off x="457200" y="1600200"/>
            <a:ext cx="3931920" cy="2286000"/>
          </a:xfrm>
          <a:prstGeom prst="roundRect">
            <a:avLst>
              <a:gd name="adj" fmla="val 4000"/>
            </a:avLst>
          </a:prstGeom>
          <a:solidFill>
            <a:schemeClr val="bg2"/>
          </a:solidFill>
          <a:ln w="12700">
            <a:solidFill>
              <a:schemeClr val="bg2"/>
            </a:solidFill>
            <a:prstDash val="solid"/>
          </a:ln>
        </p:spPr>
      </p:sp>
      <p:sp>
        <p:nvSpPr>
          <p:cNvPr id="10" name="Q6 card"/>
          <p:cNvSpPr/>
          <p:nvPr/>
        </p:nvSpPr>
        <p:spPr>
          <a:xfrm>
            <a:off x="4754880" y="1600200"/>
            <a:ext cx="3931920" cy="2286000"/>
          </a:xfrm>
          <a:prstGeom prst="roundRect">
            <a:avLst>
              <a:gd name="adj" fmla="val 4000"/>
            </a:avLst>
          </a:prstGeom>
          <a:solidFill>
            <a:schemeClr val="bg2"/>
          </a:solidFill>
          <a:ln w="12700">
            <a:solidFill>
              <a:schemeClr val="bg2"/>
            </a:solidFill>
            <a:prstDash val="solid"/>
          </a:ln>
        </p:spPr>
      </p:sp>
      <p:sp>
        <p:nvSpPr>
          <p:cNvPr id="11" name="Text 9"/>
          <p:cNvSpPr txBox="1"/>
          <p:nvPr/>
        </p:nvSpPr>
        <p:spPr>
          <a:xfrm>
            <a:off x="640080" y="1737360"/>
            <a:ext cx="3611880" cy="205740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Departments: Sales +89K, HR +74K, Logistics +74K, Finance +57K</a:t>
            </a:r>
            <a:endParaRPr lang="en-US" sz="1400" dirty="0"/>
          </a:p>
          <a:p>
            <a:pPr marL="342900" indent="-342900">
              <a:spcAft>
                <a:spcPts val="500"/>
              </a:spcAft>
              <a:buSzPct val="100000"/>
              <a:buChar char="•"/>
            </a:pPr>
            <a:r>
              <a:rPr lang="en-US" sz="1400" dirty="0">
                <a:solidFill>
                  <a:schemeClr val="tx1"/>
                </a:solidFill>
              </a:rPr>
              <a:t>Categories: Software &amp; IT +173K, Utilities +67K, Office Supplies +63K</a:t>
            </a:r>
            <a:endParaRPr lang="en-US" sz="1400" dirty="0"/>
          </a:p>
          <a:p>
            <a:pPr marL="342900" indent="-342900">
              <a:spcAft>
                <a:spcPts val="500"/>
              </a:spcAft>
              <a:buSzPct val="100000"/>
              <a:buChar char="•"/>
            </a:pPr>
            <a:r>
              <a:rPr lang="en-US" sz="1400" dirty="0">
                <a:solidFill>
                  <a:schemeClr val="tx1"/>
                </a:solidFill>
              </a:rPr>
              <a:t>HR: half of its records are over budget</a:t>
            </a:r>
            <a:endParaRPr lang="en-US" sz="1400" dirty="0"/>
          </a:p>
          <a:p>
            <a:pPr marL="342900" indent="-342900">
              <a:spcAft>
                <a:spcPts val="500"/>
              </a:spcAft>
              <a:buSzPct val="100000"/>
              <a:buChar char="•"/>
            </a:pPr>
            <a:r>
              <a:rPr lang="en-US" sz="1400" dirty="0">
                <a:solidFill>
                  <a:schemeClr val="tx1"/>
                </a:solidFill>
              </a:rPr>
              <a:t>Highest overspend rate: Office Supplies +3.5%, Software &amp; IT +3.4%</a:t>
            </a:r>
            <a:endParaRPr lang="en-US" sz="1400" dirty="0"/>
          </a:p>
        </p:txBody>
      </p:sp>
      <p:sp>
        <p:nvSpPr>
          <p:cNvPr id="12" name="Text 10"/>
          <p:cNvSpPr txBox="1"/>
          <p:nvPr/>
        </p:nvSpPr>
        <p:spPr>
          <a:xfrm>
            <a:off x="4937760" y="1737360"/>
            <a:ext cx="3611880" cy="205740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Set limits and alerts when variance crosses 5%</a:t>
            </a:r>
            <a:endParaRPr lang="en-US" sz="1400" dirty="0"/>
          </a:p>
          <a:p>
            <a:pPr marL="342900" indent="-342900">
              <a:spcAft>
                <a:spcPts val="500"/>
              </a:spcAft>
              <a:buSzPct val="100000"/>
              <a:buChar char="•"/>
            </a:pPr>
            <a:r>
              <a:rPr lang="en-US" sz="1400" dirty="0">
                <a:solidFill>
                  <a:schemeClr val="tx1"/>
                </a:solidFill>
              </a:rPr>
              <a:t>Review software licences and utility usage</a:t>
            </a:r>
            <a:endParaRPr lang="en-US" sz="1400" dirty="0"/>
          </a:p>
          <a:p>
            <a:pPr marL="342900" indent="-342900">
              <a:spcAft>
                <a:spcPts val="500"/>
              </a:spcAft>
              <a:buSzPct val="100000"/>
              <a:buChar char="•"/>
            </a:pPr>
            <a:r>
              <a:rPr lang="en-US" sz="1400" dirty="0">
                <a:solidFill>
                  <a:schemeClr val="tx1"/>
                </a:solidFill>
              </a:rPr>
              <a:t>Get approval before Sales and HR spend</a:t>
            </a:r>
            <a:endParaRPr lang="en-US" sz="1400" dirty="0"/>
          </a:p>
          <a:p>
            <a:pPr marL="342900" indent="-342900">
              <a:spcAft>
                <a:spcPts val="500"/>
              </a:spcAft>
              <a:buSzPct val="100000"/>
              <a:buChar char="•"/>
            </a:pPr>
            <a:r>
              <a:rPr lang="en-US" sz="1400" dirty="0">
                <a:solidFill>
                  <a:schemeClr val="tx1"/>
                </a:solidFill>
              </a:rPr>
              <a:t>Shift unused budget from Marketing and Equipment</a:t>
            </a:r>
            <a:endParaRPr lang="en-US" sz="1400" dirty="0"/>
          </a:p>
          <a:p>
            <a:pPr marL="342900" indent="-342900">
              <a:spcAft>
                <a:spcPts val="500"/>
              </a:spcAft>
              <a:buSzPct val="100000"/>
              <a:buChar char="•"/>
            </a:pPr>
            <a:r>
              <a:rPr lang="en-US" sz="1400" dirty="0">
                <a:solidFill>
                  <a:schemeClr val="tx1"/>
                </a:solidFill>
              </a:rPr>
              <a:t>Review monthly and tighten control in January</a:t>
            </a:r>
            <a:endParaRPr lang="en-US" sz="1400" dirty="0"/>
          </a:p>
        </p:txBody>
      </p:sp>
      <p:sp>
        <p:nvSpPr>
          <p:cNvPr id="13" name="Conclusion panel"/>
          <p:cNvSpPr/>
          <p:nvPr/>
        </p:nvSpPr>
        <p:spPr>
          <a:xfrm>
            <a:off x="457200" y="4023360"/>
            <a:ext cx="8229600" cy="731520"/>
          </a:xfrm>
          <a:prstGeom prst="roundRect">
            <a:avLst>
              <a:gd name="adj" fmla="val 12500"/>
            </a:avLst>
          </a:prstGeom>
          <a:solidFill>
            <a:schemeClr val="tx2"/>
          </a:solidFill>
          <a:ln w="12700">
            <a:solidFill>
              <a:schemeClr val="tx2"/>
            </a:solidFill>
            <a:prstDash val="solid"/>
          </a:ln>
        </p:spPr>
      </p:sp>
      <p:sp>
        <p:nvSpPr>
          <p:cNvPr id="14" name="Text 12"/>
          <p:cNvSpPr txBox="1"/>
          <p:nvPr/>
        </p:nvSpPr>
        <p:spPr>
          <a:xfrm>
            <a:off x="640080" y="4069080"/>
            <a:ext cx="7863840" cy="640080"/>
          </a:xfrm>
          <a:prstGeom prst="rect">
            <a:avLst/>
          </a:prstGeom>
          <a:noFill/>
          <a:ln/>
        </p:spPr>
        <p:txBody>
          <a:bodyPr wrap="square" lIns="0" tIns="0" rIns="0" bIns="0" rtlCol="0" anchor="ctr"/>
          <a:lstStyle/>
          <a:p>
            <a:pPr indent="0" marL="0">
              <a:buNone/>
            </a:pPr>
            <a:r>
              <a:rPr lang="en-US" sz="1400" b="1" dirty="0">
                <a:solidFill>
                  <a:schemeClr val="accent2"/>
                </a:solidFill>
              </a:rPr>
              <a:t>Conclusion: </a:t>
            </a:r>
            <a:pPr indent="0" marL="0">
              <a:buNone/>
            </a:pPr>
            <a:r>
              <a:rPr lang="en-US" sz="1400" dirty="0">
                <a:solidFill>
                  <a:schemeClr val="bg1"/>
                </a:solidFill>
              </a:rPr>
              <a:t>overall overspend is small (+0.64%) but concentrated in a few places. Next: live data, budget alerts, forecasting and ML anomaly detection.</a:t>
            </a:r>
            <a:endParaRPr lang="en-US" sz="1400" dirty="0"/>
          </a:p>
        </p:txBody>
      </p:sp>
      <p:sp>
        <p:nvSpPr>
          <p:cNvPr id="25" name="Slide Number Placeholder 0"/>
          <p:cNvSpPr>
            <a:spLocks noGrp="1"/>
          </p:cNvSpPr>
          <p:nvPr>
            <p:ph type="sldNum" sz="quarter" idx="4294967295"/>
          </p:nvPr>
        </p:nvSpPr>
        <p:spPr>
          <a:xfrm>
            <a:off x="832104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7C80"/>
                </a:solidFill>
              </a:defRPr>
            </a:lvl1pPr>
          </a:lstStyle>
          <a:p>
            <a:pPr algn="l"/>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Expense Leakage">
  <a:themeElements>
    <a:clrScheme name="Expense Leakage">
      <a:dk1>
        <a:srgbClr val="10252A"/>
      </a:dk1>
      <a:lt1>
        <a:srgbClr val="FFFFFF"/>
      </a:lt1>
      <a:dk2>
        <a:srgbClr val="0B3C43"/>
      </a:dk2>
      <a:lt2>
        <a:srgbClr val="E8F1F1"/>
      </a:lt2>
      <a:accent1>
        <a:srgbClr val="0B6E75"/>
      </a:accent1>
      <a:accent2>
        <a:srgbClr val="F2A541"/>
      </a:accent2>
      <a:accent3>
        <a:srgbClr val="C8553D"/>
      </a:accent3>
      <a:accent4>
        <a:srgbClr val="2A9D8F"/>
      </a:accent4>
      <a:accent5>
        <a:srgbClr val="5C7C80"/>
      </a:accent5>
      <a:accent6>
        <a:srgbClr val="8FB8BC"/>
      </a:accent6>
      <a:hlink>
        <a:srgbClr val="0B6E75"/>
      </a:hlink>
      <a:folHlink>
        <a:srgbClr val="5C7C80"/>
      </a:folHlink>
    </a:clrScheme>
    <a:fontScheme name="Expense Leakag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Tracking Monthly Expense Leakage in a Business</dc:title>
  <dc:subject>PptxGenJS Presentation</dc:subject>
  <dc:creator>PptxGenJS</dc:creator>
  <cp:lastModifiedBy>PptxGenJS</cp:lastModifiedBy>
  <cp:revision>1</cp:revision>
  <dcterms:created xsi:type="dcterms:W3CDTF">2026-10-25T08:48:24Z</dcterms:created>
  <dcterms:modified xsi:type="dcterms:W3CDTF">2026-10-25T08:48:24Z</dcterms:modified>
</cp:coreProperties>
</file>